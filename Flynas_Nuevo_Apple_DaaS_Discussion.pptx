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03" r:id="rId3"/>
    <p:sldId id="304" r:id="rId12"/>
    <p:sldId id="305" r:id="rId13"/>
    <p:sldId id="306" r:id="rId14"/>
    <p:sldId id="307" r:id="rId15"/>
    <p:sldId id="312" r:id="rId20"/>
    <p:sldId id="308" r:id="rId16"/>
    <p:sldId id="309" r:id="rId17"/>
    <p:sldId id="310" r:id="rId18"/>
    <p:sldId id="313" r:id="rId21"/>
    <p:sldId id="311" r:id="rId19"/>
    <p:sldId id="270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F01F09-2976-C381-D7C4-A37BF3816481}" name="Nader Alotaibi" initials="NA" userId="S::N.AlOtaibi@flynas.com::6e2f472c-ef1d-4a4f-9518-c5d03b03858b" providerId="AD"/>
  <p188:author id="{AE56501E-FAED-7A04-7521-AB8CB00F3FD2}" name="Lamia Alammari" initials="LA" userId="S::Lalammari@flynas.com::79da9f8b-e423-4268-aaa7-be6109cd30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6B0C"/>
    <a:srgbClr val="00BBB4"/>
    <a:srgbClr val="90D0C2"/>
    <a:srgbClr val="BAD030"/>
    <a:srgbClr val="AC1850"/>
    <a:srgbClr val="C81C5E"/>
    <a:srgbClr val="F58630"/>
    <a:srgbClr val="767171"/>
    <a:srgbClr val="94A626"/>
    <a:srgbClr val="00A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32"/>
  </p:normalViewPr>
  <p:slideViewPr>
    <p:cSldViewPr snapToGrid="0" snapToObjects="1">
      <p:cViewPr varScale="1">
        <p:scale>
          <a:sx n="111" d="100"/>
          <a:sy n="111" d="100"/>
        </p:scale>
        <p:origin x="64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68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8/10/relationships/authors" Target="authors.xml"/>  <Relationship Id="rId12" Type="http://schemas.openxmlformats.org/officeDocument/2006/relationships/slide" Target="slides/slide4.xml"/>
  <Relationship Id="rId13" Type="http://schemas.openxmlformats.org/officeDocument/2006/relationships/slide" Target="slides/slide5.xml"/>
  <Relationship Id="rId14" Type="http://schemas.openxmlformats.org/officeDocument/2006/relationships/slide" Target="slides/slide6.xml"/>
  <Relationship Id="rId15" Type="http://schemas.openxmlformats.org/officeDocument/2006/relationships/slide" Target="slides/slide7.xml"/>
  <Relationship Id="rId16" Type="http://schemas.openxmlformats.org/officeDocument/2006/relationships/slide" Target="slides/slide8.xml"/>
  <Relationship Id="rId17" Type="http://schemas.openxmlformats.org/officeDocument/2006/relationships/slide" Target="slides/slide9.xml"/>
  <Relationship Id="rId18" Type="http://schemas.openxmlformats.org/officeDocument/2006/relationships/slide" Target="slides/slide10.xml"/>
  <Relationship Id="rId19" Type="http://schemas.openxmlformats.org/officeDocument/2006/relationships/slide" Target="slides/slide11.xml"/>
  <Relationship Id="rId20" Type="http://schemas.openxmlformats.org/officeDocument/2006/relationships/slide" Target="slides/slide12.xml"/>
  <Relationship Id="rId21" Type="http://schemas.openxmlformats.org/officeDocument/2006/relationships/slide" Target="slides/slide13.xml"/>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Othman" userId="8140244e-c282-4e86-9d45-59369a3bb7be" providerId="ADAL" clId="{35C72BF1-2A2E-4B51-B1BD-059D3FFDFB23}"/>
    <pc:docChg chg="custSel delSld modSld">
      <pc:chgData name="Omar Othman" userId="8140244e-c282-4e86-9d45-59369a3bb7be" providerId="ADAL" clId="{35C72BF1-2A2E-4B51-B1BD-059D3FFDFB23}" dt="2026-04-22T06:47:49.684" v="17" actId="2696"/>
      <pc:docMkLst>
        <pc:docMk/>
      </pc:docMkLst>
      <pc:sldChg chg="modSp mod">
        <pc:chgData name="Omar Othman" userId="8140244e-c282-4e86-9d45-59369a3bb7be" providerId="ADAL" clId="{35C72BF1-2A2E-4B51-B1BD-059D3FFDFB23}" dt="2026-04-22T06:47:27.833" v="6" actId="20577"/>
        <pc:sldMkLst>
          <pc:docMk/>
          <pc:sldMk cId="1844162893" sldId="257"/>
        </pc:sldMkLst>
        <pc:spChg chg="mod">
          <ac:chgData name="Omar Othman" userId="8140244e-c282-4e86-9d45-59369a3bb7be" providerId="ADAL" clId="{35C72BF1-2A2E-4B51-B1BD-059D3FFDFB23}" dt="2026-04-22T06:47:27.833" v="6" actId="20577"/>
          <ac:spMkLst>
            <pc:docMk/>
            <pc:sldMk cId="1844162893" sldId="257"/>
            <ac:spMk id="2" creationId="{3D428D5C-2A25-F348-BB7E-7806076748D0}"/>
          </ac:spMkLst>
        </pc:spChg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1697162954" sldId="299"/>
        </pc:sldMkLst>
      </pc:sldChg>
      <pc:sldChg chg="delSp modSp mod">
        <pc:chgData name="Omar Othman" userId="8140244e-c282-4e86-9d45-59369a3bb7be" providerId="ADAL" clId="{35C72BF1-2A2E-4B51-B1BD-059D3FFDFB23}" dt="2026-04-22T06:47:39.862" v="16" actId="478"/>
        <pc:sldMkLst>
          <pc:docMk/>
          <pc:sldMk cId="3921271985" sldId="303"/>
        </pc:sldMkLst>
        <pc:spChg chg="mod">
          <ac:chgData name="Omar Othman" userId="8140244e-c282-4e86-9d45-59369a3bb7be" providerId="ADAL" clId="{35C72BF1-2A2E-4B51-B1BD-059D3FFDFB23}" dt="2026-04-22T06:47:36.637" v="14" actId="20577"/>
          <ac:spMkLst>
            <pc:docMk/>
            <pc:sldMk cId="3921271985" sldId="303"/>
            <ac:spMk id="2" creationId="{1066CBA5-F8FF-2B4F-890E-E3CE368AAA22}"/>
          </ac:spMkLst>
        </pc:spChg>
        <pc:spChg chg="mod">
          <ac:chgData name="Omar Othman" userId="8140244e-c282-4e86-9d45-59369a3bb7be" providerId="ADAL" clId="{35C72BF1-2A2E-4B51-B1BD-059D3FFDFB23}" dt="2026-04-22T06:47:33.802" v="10" actId="20577"/>
          <ac:spMkLst>
            <pc:docMk/>
            <pc:sldMk cId="3921271985" sldId="303"/>
            <ac:spMk id="3" creationId="{5F9D21DF-9615-2046-8CC5-9E7B4CB97B31}"/>
          </ac:spMkLst>
        </pc:spChg>
        <pc:spChg chg="del">
          <ac:chgData name="Omar Othman" userId="8140244e-c282-4e86-9d45-59369a3bb7be" providerId="ADAL" clId="{35C72BF1-2A2E-4B51-B1BD-059D3FFDFB23}" dt="2026-04-22T06:47:38.845" v="15" actId="478"/>
          <ac:spMkLst>
            <pc:docMk/>
            <pc:sldMk cId="3921271985" sldId="303"/>
            <ac:spMk id="4" creationId="{A1E7A5CC-75B9-3DD9-D86D-296AE83EAAC5}"/>
          </ac:spMkLst>
        </pc:spChg>
        <pc:spChg chg="del">
          <ac:chgData name="Omar Othman" userId="8140244e-c282-4e86-9d45-59369a3bb7be" providerId="ADAL" clId="{35C72BF1-2A2E-4B51-B1BD-059D3FFDFB23}" dt="2026-04-22T06:47:39.862" v="16" actId="478"/>
          <ac:spMkLst>
            <pc:docMk/>
            <pc:sldMk cId="3921271985" sldId="303"/>
            <ac:spMk id="6" creationId="{9E68A203-8D26-75DD-9F85-E276E55810F7}"/>
          </ac:spMkLst>
        </pc:spChg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3411633887" sldId="309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2661652453" sldId="310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501542376" sldId="311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69686481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C28AB-ADCE-4C0F-BF9B-E5220289AE2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AF82A-5C3E-4C4F-8BBD-816C5DF6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5897-B230-C447-BDED-17ACB2C2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8B67D-3A8E-B047-9D26-EC74E6E6B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3B4B7-E0CB-A144-9925-23053797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5C53-93AF-6F48-89DB-10E4BEF5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B725-91E6-F949-B5F8-215FAA5A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8929-5509-A746-89DC-5253DD1D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412D-35EF-8F4E-8FA0-54124721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6582-4130-7C47-89D1-133980ED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F129-ABF7-894D-80A0-DE6C18F9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929C-FBE0-2C4B-B296-A73FF5ED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9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FF83-4AEC-0449-967F-12F6E192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F068F-A69B-C544-98C5-DB53A3644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31907-AE17-9643-B70D-8357F8A9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8FAF6-9951-9B45-AC65-E4FCCEA7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F4513-55B7-EA4B-869F-15358034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5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EE7C-C03A-BC42-BF8C-19A9D30E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A40A-95BB-9B47-8277-AE3118A2E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2CCEF-C637-BB4A-A630-D04D26692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EC1EB-4026-EA49-987E-B8EFB826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EF355-D084-6A45-8E46-6E56DBB0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53431-F115-5347-A876-E5356640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7F91-7080-6C4F-B6B1-ED4E8B51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5359-B53D-3F4F-920F-B836B538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29C89-1D6C-7C4B-9B88-5181E646C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D3978-7786-604A-AA31-01BF33473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ADF9E-943A-B54C-9C57-5F0A6A4ED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36FCD-DD10-3C48-98CA-628180D9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BD687-3818-0C42-8C55-8A4C55E1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D2168-AE22-704B-BB2A-1F77F575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0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6200-801B-5E45-937B-4A1D3A2C1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7BC0E-1576-5948-B585-920E2269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F6294-D10F-AF46-BC7F-EBA9D49E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7D959-D3CC-C547-871F-3C8FF085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5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FA556-BCAF-2447-9538-3A03CFB4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21290-9872-3C41-B540-26E66A57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A450-CFB3-4D4C-9A90-E271E3FF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5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BF37-C94D-0C44-91F4-CDC21F76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A05A-5889-A448-824B-EE8F0D379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5111F-9633-1448-8508-51892BFA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36CF5-9655-4F45-B7BE-FBF6714B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73CC6-A3BE-684A-87CC-B2604905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284A3-65AF-C749-8E78-13133B13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8AA6-2F8A-E141-A29C-433CE25C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F20-2A0D-6B4C-84C9-BDC70E7A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7344-07BA-EF49-A9D5-51667200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BF119-5EBA-9A4A-A803-5ABF017C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9E1BB-14A9-7341-BCD6-FCDD2666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70E1D-C8C2-214F-95A1-7C2474AA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3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ABA6-6448-D144-862D-6E019161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029AC-EF5F-0C4F-9239-C24B570E7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006E-81E7-1745-94C8-82842913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2BB5D-7CE4-774F-ACFC-982A6336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AFBCF-DC6B-E945-9F07-865B1842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6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DA7AA-5779-D84C-ACD6-BDC1EA81E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CD905-3966-3640-806E-250DD43AE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52006-39FB-0E4E-82E3-6453978F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C8812-C6A1-3C49-82E3-D8E703B7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E491-5C33-0043-AFED-3CFB0674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36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5BC2C-487D-5443-81D4-9DE1F731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DA8F-0153-014B-BDE7-7BFE6CB71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046F-7BD8-464F-ADAB-895BBD6FF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4E0F6-6C9C-D34E-8EEF-1007E71DE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BB36-42E9-8149-A82C-2F2744E44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3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Logo" Type="http://schemas.openxmlformats.org/officeDocument/2006/relationships/image" Target="../media/vendor_white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Logo" Type="http://schemas.openxmlformats.org/officeDocument/2006/relationships/image" Target="../media/vendor_white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1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_rels/slide1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Logo" Type="http://schemas.openxmlformats.org/officeDocument/2006/relationships/image" Target="../media/vendo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25"/>
          <p:cNvSpPr txBox="1"/>
          <p:nvPr/>
        </p:nvSpPr>
        <p:spPr>
          <a:xfrm>
            <a:off x="6812280" y="73152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Flynas Bold"/>
                <a:cs typeface="Flynas Bold"/>
              </a:rPr>
              <a:t>Device as a Service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6839712" y="1572768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700" b="0" dirty="0">
                <a:solidFill>
                  <a:srgbClr val="FFFFFF"/>
                </a:solidFill>
                <a:latin typeface="Arial"/>
                <a:cs typeface="Arial"/>
              </a:rPr>
              <a:t>Leasing and lifecycle partnership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0" dirty="0">
                <a:solidFill>
                  <a:srgbClr val="FFFFFF"/>
                </a:solidFill>
                <a:latin typeface="Arial"/>
                <a:cs typeface="Arial"/>
              </a:rPr>
              <a:t>flynas and Nuevo, Apple Business Partner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6839712" y="24871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100" b="0" dirty="0">
                <a:solidFill>
                  <a:srgbClr val="FFFFFF"/>
                </a:solidFill>
                <a:latin typeface="Arial"/>
                <a:cs typeface="Arial"/>
              </a:rPr>
              <a:t>ITEUS · October 2026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8641080" y="31546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>
            <a:noAutofit/>
          </a:bodyPr>
          <a:lstStyle/>
          <a:p>
            <a:pPr algn="r"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</a:p>
        </p:txBody>
      </p:sp>
      <p:pic>
        <p:nvPicPr>
          <p:cNvPr id="229" name="Logo 229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326880" y="2743200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6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Why we are meeting</a:t>
            </a:r>
          </a:p>
        </p:txBody>
      </p:sp>
      <p:sp>
        <p:nvSpPr>
          <p:cNvPr id="102" name="Subtitle 102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Move flynas endpoints to one Apple lifecycle service</a:t>
            </a:r>
          </a:p>
        </p:txBody>
      </p:sp>
      <p:pic>
        <p:nvPicPr>
          <p:cNvPr id="103" name="Logo 103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04" name="Shape 104"/>
          <p:cNvSpPr/>
          <p:nvPr/>
        </p:nvSpPr>
        <p:spPr>
          <a:xfrm>
            <a:off x="795528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Today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Buy back fleet</a:t>
            </a:r>
          </a:p>
        </p:txBody>
      </p:sp>
      <p:sp>
        <p:nvSpPr>
          <p:cNvPr id="105" name="Shape 105"/>
          <p:cNvSpPr/>
          <p:nvPr/>
        </p:nvSpPr>
        <p:spPr>
          <a:xfrm>
            <a:off x="3250692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06" name="Shape 106"/>
          <p:cNvSpPr/>
          <p:nvPr/>
        </p:nvSpPr>
        <p:spPr>
          <a:xfrm>
            <a:off x="3525012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New HQ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Fit out with Mac</a:t>
            </a:r>
          </a:p>
        </p:txBody>
      </p:sp>
      <p:sp>
        <p:nvSpPr>
          <p:cNvPr id="107" name="Shape 107"/>
          <p:cNvSpPr/>
          <p:nvPr/>
        </p:nvSpPr>
        <p:spPr>
          <a:xfrm>
            <a:off x="5980176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08" name="Shape 108"/>
          <p:cNvSpPr/>
          <p:nvPr/>
        </p:nvSpPr>
        <p:spPr>
          <a:xfrm>
            <a:off x="6254496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Anywhere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Support staff</a:t>
            </a:r>
          </a:p>
        </p:txBody>
      </p:sp>
      <p:sp>
        <p:nvSpPr>
          <p:cNvPr id="109" name="Shape 109"/>
          <p:cNvSpPr/>
          <p:nvPr/>
        </p:nvSpPr>
        <p:spPr>
          <a:xfrm>
            <a:off x="8709660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10" name="Shape 110"/>
          <p:cNvSpPr/>
          <p:nvPr/>
        </p:nvSpPr>
        <p:spPr>
          <a:xfrm>
            <a:off x="8983980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BBB4"/>
                </a:solidFill>
                <a:latin typeface="Arial"/>
                <a:cs typeface="Arial"/>
              </a:rPr>
              <a:t>Every 3 years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Refresh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95528" y="31546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One partner: Nuevo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218688" y="3154680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Nuevo, as Apple Authorised Reseller, covers hardware, deployment, AppleCare support, lifecycle and disposal for one per-seat monthly fee.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95528" y="372160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CapEx to OpEx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218688" y="3721608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Existing Lenovo assets are bought back by Nuevo and the value is applied to the new service.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95528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Standards kept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218688" y="4288536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Tiers follow Policy Appendix B.2: MacBook Air for Officer to Senior Manager, MacBook Pro 14" for Director to VP.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95528" y="485546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Laptop first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218688" y="4855464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Laptop, 27" USB-C monitor and multiport adapter at every desk; iMac only as the desktop alternative.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A370C6-7646-E146-B688-1E3CE51B71A4}"/>
              </a:ext>
            </a:extLst>
          </p:cNvPr>
          <p:cNvSpPr txBox="1"/>
          <p:nvPr/>
        </p:nvSpPr>
        <p:spPr>
          <a:xfrm>
            <a:off x="6435766" y="2967335"/>
            <a:ext cx="4014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otham Rounded Bold" pitchFamily="2" charset="0"/>
              </a:rPr>
              <a:t>Thank You</a:t>
            </a:r>
          </a:p>
        </p:txBody>
      </p:sp>
      <p:pic>
        <p:nvPicPr>
          <p:cNvPr id="230" name="Logo 230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332720" y="41148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2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1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What flynas needs from Nuevo</a:t>
            </a:r>
          </a:p>
        </p:txBody>
      </p:sp>
      <p:sp>
        <p:nvSpPr>
          <p:cNvPr id="120" name="Subtitle 12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Eight requirements for the service</a:t>
            </a:r>
          </a:p>
        </p:txBody>
      </p:sp>
      <p:pic>
        <p:nvPicPr>
          <p:cNvPr id="121" name="Logo 121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22" name="Shape 122"/>
          <p:cNvSpPr/>
          <p:nvPr/>
        </p:nvSpPr>
        <p:spPr>
          <a:xfrm>
            <a:off x="795528" y="17830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Full buyback</a:t>
            </a:r>
          </a:p>
        </p:txBody>
      </p:sp>
      <p:sp>
        <p:nvSpPr>
          <p:cNvPr id="123" name="Shape 123"/>
          <p:cNvSpPr/>
          <p:nvPr/>
        </p:nvSpPr>
        <p:spPr>
          <a:xfrm>
            <a:off x="795528" y="22037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All laptops, desktops, monitors, docks, headsets and peripherals, valued and removed.</a:t>
            </a:r>
          </a:p>
        </p:txBody>
      </p:sp>
      <p:sp>
        <p:nvSpPr>
          <p:cNvPr id="124" name="Shape 124"/>
          <p:cNvSpPr/>
          <p:nvPr/>
        </p:nvSpPr>
        <p:spPr>
          <a:xfrm>
            <a:off x="3488436" y="17830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HQ fit-out</a:t>
            </a:r>
          </a:p>
        </p:txBody>
      </p:sp>
      <p:sp>
        <p:nvSpPr>
          <p:cNvPr id="125" name="Shape 125"/>
          <p:cNvSpPr/>
          <p:nvPr/>
        </p:nvSpPr>
        <p:spPr>
          <a:xfrm>
            <a:off x="3488436" y="22037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New HQ furnished to the Appendix B standard equipment list, macOS platform.</a:t>
            </a:r>
          </a:p>
        </p:txBody>
      </p:sp>
      <p:sp>
        <p:nvSpPr>
          <p:cNvPr id="126" name="Shape 126"/>
          <p:cNvSpPr/>
          <p:nvPr/>
        </p:nvSpPr>
        <p:spPr>
          <a:xfrm>
            <a:off x="6181344" y="17830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Support abroad</a:t>
            </a:r>
          </a:p>
        </p:txBody>
      </p:sp>
      <p:sp>
        <p:nvSpPr>
          <p:cNvPr id="127" name="Shape 127"/>
          <p:cNvSpPr/>
          <p:nvPr/>
        </p:nvSpPr>
        <p:spPr>
          <a:xfrm>
            <a:off x="6181344" y="22037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Staff outside KSA repaired fast, or given a working replacement with their data.</a:t>
            </a:r>
          </a:p>
        </p:txBody>
      </p:sp>
      <p:sp>
        <p:nvSpPr>
          <p:cNvPr id="128" name="Shape 128"/>
          <p:cNvSpPr/>
          <p:nvPr/>
        </p:nvSpPr>
        <p:spPr>
          <a:xfrm>
            <a:off x="8874252" y="17830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Asset tracking</a:t>
            </a:r>
          </a:p>
        </p:txBody>
      </p:sp>
      <p:sp>
        <p:nvSpPr>
          <p:cNvPr id="129" name="Shape 129"/>
          <p:cNvSpPr/>
          <p:nvPr/>
        </p:nvSpPr>
        <p:spPr>
          <a:xfrm>
            <a:off x="8874252" y="22037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Apple Business Manager and Intune data on every device, owner, warranty and term.</a:t>
            </a:r>
          </a:p>
        </p:txBody>
      </p:sp>
      <p:sp>
        <p:nvSpPr>
          <p:cNvPr id="130" name="Shape 130"/>
          <p:cNvSpPr/>
          <p:nvPr/>
        </p:nvSpPr>
        <p:spPr>
          <a:xfrm>
            <a:off x="795528" y="36118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3 + 1 refresh</a:t>
            </a:r>
          </a:p>
        </p:txBody>
      </p:sp>
      <p:sp>
        <p:nvSpPr>
          <p:cNvPr id="131" name="Shape 131"/>
          <p:cNvSpPr/>
          <p:nvPr/>
        </p:nvSpPr>
        <p:spPr>
          <a:xfrm>
            <a:off x="795528" y="40325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36-month refresh, optional 4th year, then device can pass to the employee.</a:t>
            </a:r>
          </a:p>
        </p:txBody>
      </p:sp>
      <p:sp>
        <p:nvSpPr>
          <p:cNvPr id="132" name="Shape 132"/>
          <p:cNvSpPr/>
          <p:nvPr/>
        </p:nvSpPr>
        <p:spPr>
          <a:xfrm>
            <a:off x="3488436" y="36118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IT staff training</a:t>
            </a:r>
          </a:p>
        </p:txBody>
      </p:sp>
      <p:sp>
        <p:nvSpPr>
          <p:cNvPr id="133" name="Shape 133"/>
          <p:cNvSpPr/>
          <p:nvPr/>
        </p:nvSpPr>
        <p:spPr>
          <a:xfrm>
            <a:off x="3488436" y="40325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Regular technical training and certification for the ITEUS support team.</a:t>
            </a:r>
          </a:p>
        </p:txBody>
      </p:sp>
      <p:sp>
        <p:nvSpPr>
          <p:cNvPr id="134" name="Shape 134"/>
          <p:cNvSpPr/>
          <p:nvPr/>
        </p:nvSpPr>
        <p:spPr>
          <a:xfrm>
            <a:off x="6181344" y="36118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Accessibility</a:t>
            </a:r>
          </a:p>
        </p:txBody>
      </p:sp>
      <p:sp>
        <p:nvSpPr>
          <p:cNvPr id="135" name="Shape 135"/>
          <p:cNvSpPr/>
          <p:nvPr/>
        </p:nvSpPr>
        <p:spPr>
          <a:xfrm>
            <a:off x="6181344" y="40325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Equipment for staff with disabilities (PWD), provided when needed.</a:t>
            </a:r>
          </a:p>
        </p:txBody>
      </p:sp>
      <p:sp>
        <p:nvSpPr>
          <p:cNvPr id="136" name="Shape 136"/>
          <p:cNvSpPr/>
          <p:nvPr/>
        </p:nvSpPr>
        <p:spPr>
          <a:xfrm>
            <a:off x="8874252" y="3611880"/>
            <a:ext cx="2510028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Specialist kit</a:t>
            </a:r>
          </a:p>
        </p:txBody>
      </p:sp>
      <p:sp>
        <p:nvSpPr>
          <p:cNvPr id="137" name="Shape 137"/>
          <p:cNvSpPr/>
          <p:nvPr/>
        </p:nvSpPr>
        <p:spPr>
          <a:xfrm>
            <a:off x="8874252" y="4032504"/>
            <a:ext cx="251002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Mac Studio and high-spec MacBook Pro on demand for specific roles.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3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Device lineup: per Appendix B</a:t>
            </a:r>
          </a:p>
        </p:txBody>
      </p:sp>
      <p:sp>
        <p:nvSpPr>
          <p:cNvPr id="140" name="Subtitle 14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Policy tiers mapped to the 2026 Apple range</a:t>
            </a:r>
          </a:p>
        </p:txBody>
      </p:sp>
      <p:pic>
        <p:nvPicPr>
          <p:cNvPr id="141" name="Logo 141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graphicFrame>
        <p:nvGraphicFramePr>
          <p:cNvPr id="138" name="Device table"/>
          <p:cNvGraphicFramePr>
            <a:graphicFrameLocks noGrp="1"/>
          </p:cNvGraphicFramePr>
          <p:nvPr/>
        </p:nvGraphicFramePr>
        <p:xfrm>
          <a:off x="795528" y="1719072"/>
          <a:ext cx="10588752" cy="2944368"/>
        </p:xfrm>
        <a:graphic>
          <a:graphicData uri="http://schemas.openxmlformats.org/drawingml/2006/table">
            <a:tbl>
              <a:tblPr firstRow="1" bandRow="1"/>
              <a:tblGrid>
                <a:gridCol w="1920240"/>
                <a:gridCol w="2194560"/>
                <a:gridCol w="2587752"/>
                <a:gridCol w="187452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Policy tier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Today (Lenovo)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Apple equivalent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Chip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Memory · storage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Officer to Sr Manager, 13"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E14 / L14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MacBook Air 13"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M5, 10-core CPU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24GB · 1TB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Officer to Sr Manager, 15"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E16 / L16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MacBook Air 15"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M5, 10-core CPU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24GB · 1TB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Director to VP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X1 Carbon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MacBook Pro 14"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M5, 10-core CPU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24GB · 1TB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C-Level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Per IT assessment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MacBook Pro 14" or 16"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M5 Pro or M5 Max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Per IT assessment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Desktop, Officer to VP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ThinkCentre Neo 50 AIO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iMac 24"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M4, 10-core CPU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24GB · 1TB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Specialists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Custom / workstation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Mac Studio / MacBook Pro 16"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M5 Max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008F8A"/>
                          </a:solidFill>
                          <a:latin typeface="Arial"/>
                          <a:cs typeface="Arial"/>
                        </a:rPr>
                        <a:t>Per requirement</a:t>
                      </a:r>
                    </a:p>
                  </a:txBody>
                  <a:tcPr marL="91440" marR="73152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</a:tbl>
          </a:graphicData>
        </a:graphic>
      </p:graphicFrame>
      <p:sp>
        <p:nvSpPr>
          <p:cNvPr id="142" name="Shape 142"/>
          <p:cNvSpPr/>
          <p:nvPr/>
        </p:nvSpPr>
        <p:spPr>
          <a:xfrm>
            <a:off x="795528" y="4873752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Every Mac: 24GB memory and 1TB SSD as standard, zero-touch enrolment via Apple Business Manager and Intune.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95528" y="5504688"/>
            <a:ext cx="1058875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050" b="0" i="1" dirty="0">
                <a:solidFill>
                  <a:srgbClr val="767171"/>
                </a:solidFill>
                <a:latin typeface="Arial"/>
                <a:cs typeface="Arial"/>
              </a:rPr>
              <a:t>Per Appendix B.2; Windows tiers (B.1) stay available under Policy 5.1. Models and pricing to be confirmed.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44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Chip options: M5 and M5 Pro</a:t>
            </a:r>
          </a:p>
        </p:txBody>
      </p:sp>
      <p:sp>
        <p:nvSpPr>
          <p:cNvPr id="145" name="Subtitle 145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Two tiers quoted, so flynas can choose per role</a:t>
            </a:r>
          </a:p>
        </p:txBody>
      </p:sp>
      <p:pic>
        <p:nvPicPr>
          <p:cNvPr id="146" name="Logo 146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47" name="Shape 147"/>
          <p:cNvSpPr/>
          <p:nvPr/>
        </p:nvSpPr>
        <p:spPr>
          <a:xfrm>
            <a:off x="795528" y="1737360"/>
            <a:ext cx="5157216" cy="868680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201168" rIns="201168" tIns="54864" bIns="54864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200" b="0" dirty="0">
                <a:solidFill>
                  <a:srgbClr val="00BBB4"/>
                </a:solidFill>
                <a:latin typeface="Arial"/>
                <a:cs typeface="Arial"/>
              </a:rPr>
              <a:t>Standard</a:t>
            </a:r>
          </a:p>
          <a:p>
            <a:pPr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Apple M5</a:t>
            </a:r>
          </a:p>
        </p:txBody>
      </p:sp>
      <p:sp>
        <p:nvSpPr>
          <p:cNvPr id="148" name="Shape 148"/>
          <p:cNvSpPr/>
          <p:nvPr/>
        </p:nvSpPr>
        <p:spPr>
          <a:xfrm>
            <a:off x="795528" y="2606040"/>
            <a:ext cx="51572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01168" rIns="201168" tIns="146304" bIns="146304">
            <a:noAutofit/>
          </a:bodyPr>
          <a:lstStyle/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Used in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MacBook Air 13" and 15", MacBook Pro 14"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Cores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10-core CPU (4 performance, 6 efficiency)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AI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16-core Neural Engine, plus GPU Neural Accelerators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I/O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Thunderbolt 4, two external displays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Fit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Officer to VP; 24GB, 1TB SSD</a:t>
            </a:r>
          </a:p>
        </p:txBody>
      </p:sp>
      <p:sp>
        <p:nvSpPr>
          <p:cNvPr id="149" name="Shape 149"/>
          <p:cNvSpPr/>
          <p:nvPr/>
        </p:nvSpPr>
        <p:spPr>
          <a:xfrm>
            <a:off x="6227064" y="1737360"/>
            <a:ext cx="5157216" cy="868680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201168" rIns="201168" tIns="54864" bIns="54864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200" b="0" dirty="0">
                <a:solidFill>
                  <a:srgbClr val="E5F8F7"/>
                </a:solidFill>
                <a:latin typeface="Arial"/>
                <a:cs typeface="Arial"/>
              </a:rPr>
              <a:t>Performance</a:t>
            </a:r>
          </a:p>
          <a:p>
            <a:pPr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Apple M5 Pro</a:t>
            </a:r>
          </a:p>
        </p:txBody>
      </p:sp>
      <p:sp>
        <p:nvSpPr>
          <p:cNvPr id="150" name="Shape 150"/>
          <p:cNvSpPr/>
          <p:nvPr/>
        </p:nvSpPr>
        <p:spPr>
          <a:xfrm>
            <a:off x="6227064" y="2606040"/>
            <a:ext cx="51572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01168" rIns="201168" tIns="146304" bIns="146304">
            <a:noAutofit/>
          </a:bodyPr>
          <a:lstStyle/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Used in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MacBook Pro 14" or 16" for C-Level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Cores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15 or 18-core CPU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AI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16-core Neural Engine, plus GPU Neural Accelerators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Graphics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16 or 20-core GPU, Thunderbolt 5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Fit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C-Level and specialists, per IT assessment</a:t>
            </a:r>
          </a:p>
        </p:txBody>
      </p:sp>
      <p:sp>
        <p:nvSpPr>
          <p:cNvPr id="151" name="Shape 151"/>
          <p:cNvSpPr/>
          <p:nvPr/>
        </p:nvSpPr>
        <p:spPr>
          <a:xfrm>
            <a:off x="795528" y="4937760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Can Nuevo price both tiers per seat, and supply pilot Macs so ITEUS can test our Windows apps first?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52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One desk standard for the new HQ</a:t>
            </a:r>
          </a:p>
        </p:txBody>
      </p:sp>
      <p:sp>
        <p:nvSpPr>
          <p:cNvPr id="153" name="Subtitle 153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Appendix B kit at every desk; iMac as the desktop option</a:t>
            </a:r>
          </a:p>
        </p:txBody>
      </p:sp>
      <p:pic>
        <p:nvPicPr>
          <p:cNvPr id="154" name="Logo 154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55" name="Shape 155"/>
          <p:cNvSpPr/>
          <p:nvPr/>
        </p:nvSpPr>
        <p:spPr>
          <a:xfrm>
            <a:off x="795528" y="1783080"/>
            <a:ext cx="1854403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MacBook Air or Pro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1TB SSD</a:t>
            </a:r>
          </a:p>
        </p:txBody>
      </p:sp>
      <p:sp>
        <p:nvSpPr>
          <p:cNvPr id="156" name="Shape 156"/>
          <p:cNvSpPr/>
          <p:nvPr/>
        </p:nvSpPr>
        <p:spPr>
          <a:xfrm>
            <a:off x="2704795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57" name="Shape 157"/>
          <p:cNvSpPr/>
          <p:nvPr/>
        </p:nvSpPr>
        <p:spPr>
          <a:xfrm>
            <a:off x="2979115" y="1783080"/>
            <a:ext cx="1854403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Belkin 11-in-1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USB-C adapter</a:t>
            </a:r>
          </a:p>
        </p:txBody>
      </p:sp>
      <p:sp>
        <p:nvSpPr>
          <p:cNvPr id="158" name="Shape 158"/>
          <p:cNvSpPr/>
          <p:nvPr/>
        </p:nvSpPr>
        <p:spPr>
          <a:xfrm>
            <a:off x="4888382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59" name="Shape 159"/>
          <p:cNvSpPr/>
          <p:nvPr/>
        </p:nvSpPr>
        <p:spPr>
          <a:xfrm>
            <a:off x="5162702" y="1783080"/>
            <a:ext cx="1854403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27" ThinkVision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USB-C monitor</a:t>
            </a:r>
          </a:p>
        </p:txBody>
      </p:sp>
      <p:sp>
        <p:nvSpPr>
          <p:cNvPr id="160" name="Shape 160"/>
          <p:cNvSpPr/>
          <p:nvPr/>
        </p:nvSpPr>
        <p:spPr>
          <a:xfrm>
            <a:off x="7071970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61" name="Shape 161"/>
          <p:cNvSpPr/>
          <p:nvPr/>
        </p:nvSpPr>
        <p:spPr>
          <a:xfrm>
            <a:off x="7346290" y="1783080"/>
            <a:ext cx="1854403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Magic Keyboard, Mouse, headset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Peripherals</a:t>
            </a:r>
          </a:p>
        </p:txBody>
      </p:sp>
      <p:sp>
        <p:nvSpPr>
          <p:cNvPr id="162" name="Shape 162"/>
          <p:cNvSpPr/>
          <p:nvPr/>
        </p:nvSpPr>
        <p:spPr>
          <a:xfrm>
            <a:off x="9255557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63" name="Shape 163"/>
          <p:cNvSpPr/>
          <p:nvPr/>
        </p:nvSpPr>
        <p:spPr>
          <a:xfrm>
            <a:off x="9529877" y="1783080"/>
            <a:ext cx="1854403" cy="960120"/>
          </a:xfrm>
          <a:prstGeom prst="roundRect">
            <a:avLst>
              <a:gd name="adj" fmla="val 14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BBB4"/>
                </a:solidFill>
                <a:latin typeface="Arial"/>
                <a:cs typeface="Arial"/>
              </a:rPr>
              <a:t>One line item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Desk kit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795528" y="31546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Default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218688" y="3154680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Laptop, 27" Lenovo ThinkVision, Belkin adapter, Magic Keyboard and Mouse (or Trackpad) and a wireless VoIP headset.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795528" y="372160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Docks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3218688" y="3721608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Lenovo Dock Universal USB-C standard for Director to VP; on request for Officer to Senior Manager.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795528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Desktop option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3218688" y="4288536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iMac 24" with 24GB and 1TB as the alternative to a laptop for Officer to VP, on the same contract.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795528" y="485546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Ready on arrival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3218688" y="4855464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Zero-touch enrolment through Apple Business Manager and Intune, asset tagged and staged for the HQ move.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72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Support anywhere, back to work fast</a:t>
            </a:r>
          </a:p>
        </p:txBody>
      </p:sp>
      <p:sp>
        <p:nvSpPr>
          <p:cNvPr id="173" name="Subtitle 173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What Nuevo and AppleCare provide abroad, and what flynas adds</a:t>
            </a:r>
          </a:p>
        </p:txBody>
      </p:sp>
      <p:pic>
        <p:nvPicPr>
          <p:cNvPr id="174" name="Logo 174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75" name="Shape 175"/>
          <p:cNvSpPr/>
          <p:nvPr/>
        </p:nvSpPr>
        <p:spPr>
          <a:xfrm>
            <a:off x="795528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Staff abroad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Device fails</a:t>
            </a:r>
          </a:p>
        </p:txBody>
      </p:sp>
      <p:sp>
        <p:nvSpPr>
          <p:cNvPr id="176" name="Shape 176"/>
          <p:cNvSpPr/>
          <p:nvPr/>
        </p:nvSpPr>
        <p:spPr>
          <a:xfrm>
            <a:off x="3250692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77" name="Shape 177"/>
          <p:cNvSpPr/>
          <p:nvPr/>
        </p:nvSpPr>
        <p:spPr>
          <a:xfrm>
            <a:off x="3525012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AppleCare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Remote diagnosis</a:t>
            </a:r>
          </a:p>
        </p:txBody>
      </p:sp>
      <p:sp>
        <p:nvSpPr>
          <p:cNvPr id="178" name="Shape 178"/>
          <p:cNvSpPr/>
          <p:nvPr/>
        </p:nvSpPr>
        <p:spPr>
          <a:xfrm>
            <a:off x="5980176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79" name="Shape 179"/>
          <p:cNvSpPr/>
          <p:nvPr/>
        </p:nvSpPr>
        <p:spPr>
          <a:xfrm>
            <a:off x="6254496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8F8A"/>
                </a:solidFill>
                <a:latin typeface="Arial"/>
                <a:cs typeface="Arial"/>
              </a:rPr>
              <a:t>Onsite repair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22B40"/>
                </a:solidFill>
                <a:latin typeface="Arial"/>
                <a:cs typeface="Arial"/>
              </a:rPr>
              <a:t>or unit swap</a:t>
            </a:r>
          </a:p>
        </p:txBody>
      </p:sp>
      <p:sp>
        <p:nvSpPr>
          <p:cNvPr id="180" name="Shape 180"/>
          <p:cNvSpPr/>
          <p:nvPr/>
        </p:nvSpPr>
        <p:spPr>
          <a:xfrm>
            <a:off x="8709660" y="2162556"/>
            <a:ext cx="219456" cy="201168"/>
          </a:xfrm>
          <a:prstGeom prst="rightArrow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81" name="Shape 181"/>
          <p:cNvSpPr/>
          <p:nvPr/>
        </p:nvSpPr>
        <p:spPr>
          <a:xfrm>
            <a:off x="8983980" y="1783080"/>
            <a:ext cx="2400300" cy="960120"/>
          </a:xfrm>
          <a:prstGeom prst="roundRect">
            <a:avLst>
              <a:gd name="adj" fmla="val 14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54864" rIns="54864" tIns="54864" bIns="54864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00BBB4"/>
                </a:solidFill>
                <a:latin typeface="Arial"/>
                <a:cs typeface="Arial"/>
              </a:rPr>
              <a:t>Intune + OneDrive</a:t>
            </a:r>
          </a:p>
          <a:p>
            <a:pPr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Same data, same apps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795528" y="31546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How Apple works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3218688" y="3154680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AppleCare for Enterprise: 24/7 support for IT, onsite repair where offered, and Apple Stores and service providers worldwide.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795528" y="372160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Travel cover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3218688" y="3721608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Onsite coverage in KSA and in each international station country to be confirmed by Nuevo.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795528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Our ask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3218688" y="4288536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Pre-enrolled spare MacBooks at key international stations, plus advance exchange shipping.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795528" y="485546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Data protection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3218688" y="4855464"/>
            <a:ext cx="8165592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250" b="0" dirty="0">
                <a:solidFill>
                  <a:srgbClr val="5A6E7A"/>
                </a:solidFill>
                <a:latin typeface="Arial"/>
                <a:cs typeface="Arial"/>
              </a:rPr>
              <a:t>The SSD is built in, so drive retention is not possible; FileVault and a remote wipe before repair protect data.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90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Lifecycle and commercial model</a:t>
            </a:r>
          </a:p>
        </p:txBody>
      </p:sp>
      <p:sp>
        <p:nvSpPr>
          <p:cNvPr id="191" name="Subtitle 191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36-month refresh with an optional fourth year</a:t>
            </a:r>
          </a:p>
        </p:txBody>
      </p:sp>
      <p:pic>
        <p:nvPicPr>
          <p:cNvPr id="192" name="Logo 192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193" name="Shape 193"/>
          <p:cNvSpPr/>
          <p:nvPr/>
        </p:nvSpPr>
        <p:spPr>
          <a:xfrm>
            <a:off x="1984248" y="2542032"/>
            <a:ext cx="8211312" cy="36576"/>
          </a:xfrm>
          <a:prstGeom prst="rect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94" name="Shape 194"/>
          <p:cNvSpPr/>
          <p:nvPr/>
        </p:nvSpPr>
        <p:spPr>
          <a:xfrm>
            <a:off x="1828800" y="2404872"/>
            <a:ext cx="310896" cy="310896"/>
          </a:xfrm>
          <a:prstGeom prst="ellipse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95" name="TextBox 195"/>
          <p:cNvSpPr txBox="1"/>
          <p:nvPr/>
        </p:nvSpPr>
        <p:spPr>
          <a:xfrm>
            <a:off x="795528" y="18470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2B40"/>
                </a:solidFill>
                <a:latin typeface="Arial"/>
                <a:cs typeface="Arial"/>
              </a:rPr>
              <a:t>Month 0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795528" y="28163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Deploy and buy back</a:t>
            </a:r>
          </a:p>
        </p:txBody>
      </p:sp>
      <p:sp>
        <p:nvSpPr>
          <p:cNvPr id="197" name="Shape 197"/>
          <p:cNvSpPr/>
          <p:nvPr/>
        </p:nvSpPr>
        <p:spPr>
          <a:xfrm>
            <a:off x="5934456" y="2404872"/>
            <a:ext cx="310896" cy="310896"/>
          </a:xfrm>
          <a:prstGeom prst="ellipse">
            <a:avLst/>
          </a:prstGeom>
          <a:solidFill>
            <a:srgbClr val="122B40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198" name="TextBox 198"/>
          <p:cNvSpPr txBox="1"/>
          <p:nvPr/>
        </p:nvSpPr>
        <p:spPr>
          <a:xfrm>
            <a:off x="4901184" y="18470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2B40"/>
                </a:solidFill>
                <a:latin typeface="Arial"/>
                <a:cs typeface="Arial"/>
              </a:rPr>
              <a:t>Month 36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4901184" y="28163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Refresh decision</a:t>
            </a:r>
          </a:p>
        </p:txBody>
      </p:sp>
      <p:sp>
        <p:nvSpPr>
          <p:cNvPr id="200" name="Shape 200"/>
          <p:cNvSpPr/>
          <p:nvPr/>
        </p:nvSpPr>
        <p:spPr>
          <a:xfrm>
            <a:off x="10040112" y="2404872"/>
            <a:ext cx="310896" cy="310896"/>
          </a:xfrm>
          <a:prstGeom prst="ellipse">
            <a:avLst/>
          </a:prstGeom>
          <a:solidFill>
            <a:srgbClr val="00BBB4"/>
          </a:solidFill>
          <a:ln>
            <a:noFill/>
          </a:ln>
        </p:spPr>
        <p:txBody>
          <a:bodyPr wrap="square" rtlCol="0" anchor="t" lIns="128016" rIns="128016" tIns="64008" bIns="64008">
            <a:noAutofit/>
          </a:bodyPr>
          <a:lstStyle/>
          <a:p>
            <a:endParaRPr lang="en-US" sz="1000"/>
          </a:p>
        </p:txBody>
      </p:sp>
      <p:sp>
        <p:nvSpPr>
          <p:cNvPr id="201" name="TextBox 201"/>
          <p:cNvSpPr txBox="1"/>
          <p:nvPr/>
        </p:nvSpPr>
        <p:spPr>
          <a:xfrm>
            <a:off x="9006840" y="18470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22B40"/>
                </a:solidFill>
                <a:latin typeface="Arial"/>
                <a:cs typeface="Arial"/>
              </a:rPr>
              <a:t>Month 48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9006840" y="28163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Nominal buyout</a:t>
            </a:r>
          </a:p>
        </p:txBody>
      </p:sp>
      <p:sp>
        <p:nvSpPr>
          <p:cNvPr id="203" name="Shape 203"/>
          <p:cNvSpPr/>
          <p:nvPr/>
        </p:nvSpPr>
        <p:spPr>
          <a:xfrm>
            <a:off x="795528" y="34290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Option A: return and refresh</a:t>
            </a:r>
          </a:p>
        </p:txBody>
      </p:sp>
      <p:sp>
        <p:nvSpPr>
          <p:cNvPr id="204" name="Shape 204"/>
          <p:cNvSpPr/>
          <p:nvPr/>
        </p:nvSpPr>
        <p:spPr>
          <a:xfrm>
            <a:off x="795528" y="3849624"/>
            <a:ext cx="515721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Nuevo collects and wipes the old Mac, with a certificate, and delivers a new one at month 36.</a:t>
            </a:r>
          </a:p>
        </p:txBody>
      </p:sp>
      <p:sp>
        <p:nvSpPr>
          <p:cNvPr id="205" name="Shape 205"/>
          <p:cNvSpPr/>
          <p:nvPr/>
        </p:nvSpPr>
        <p:spPr>
          <a:xfrm>
            <a:off x="6227064" y="34290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Option B: extend, then keep</a:t>
            </a:r>
          </a:p>
        </p:txBody>
      </p:sp>
      <p:sp>
        <p:nvSpPr>
          <p:cNvPr id="206" name="Shape 206"/>
          <p:cNvSpPr/>
          <p:nvPr/>
        </p:nvSpPr>
        <p:spPr>
          <a:xfrm>
            <a:off x="6227064" y="3849624"/>
            <a:ext cx="515721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12 more months at a reduced rate, then a nominal buyout so the device can pass to the employee.</a:t>
            </a:r>
          </a:p>
        </p:txBody>
      </p:sp>
      <p:sp>
        <p:nvSpPr>
          <p:cNvPr id="207" name="Shape 207"/>
          <p:cNvSpPr/>
          <p:nvPr/>
        </p:nvSpPr>
        <p:spPr>
          <a:xfrm>
            <a:off x="795528" y="5074920"/>
            <a:ext cx="10588752" cy="548640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Can Nuevo quote two prices per seat (return at 36, buyout at 48), using Mac resale value to lower the rate?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208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Services around the device</a:t>
            </a:r>
          </a:p>
        </p:txBody>
      </p:sp>
      <p:sp>
        <p:nvSpPr>
          <p:cNvPr id="209" name="Subtitle 209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Tracking, disposal, training and special cases</a:t>
            </a:r>
          </a:p>
        </p:txBody>
      </p:sp>
      <p:pic>
        <p:nvPicPr>
          <p:cNvPr id="210" name="Logo 210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211" name="Shape 211"/>
          <p:cNvSpPr/>
          <p:nvPr/>
        </p:nvSpPr>
        <p:spPr>
          <a:xfrm>
            <a:off x="795528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Asset management and tracking</a:t>
            </a:r>
          </a:p>
        </p:txBody>
      </p:sp>
      <p:sp>
        <p:nvSpPr>
          <p:cNvPr id="212" name="Shape 212"/>
          <p:cNvSpPr/>
          <p:nvPr/>
        </p:nvSpPr>
        <p:spPr>
          <a:xfrm>
            <a:off x="795528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Apple Business Manager plus Intune or Jamf for device, warranty and compliance data; MDM inventory can feed Ivanti.</a:t>
            </a:r>
          </a:p>
        </p:txBody>
      </p:sp>
      <p:sp>
        <p:nvSpPr>
          <p:cNvPr id="213" name="Shape 213"/>
          <p:cNvSpPr/>
          <p:nvPr/>
        </p:nvSpPr>
        <p:spPr>
          <a:xfrm>
            <a:off x="6227064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Buyback and secure disposal</a:t>
            </a:r>
          </a:p>
        </p:txBody>
      </p:sp>
      <p:sp>
        <p:nvSpPr>
          <p:cNvPr id="214" name="Shape 214"/>
          <p:cNvSpPr/>
          <p:nvPr/>
        </p:nvSpPr>
        <p:spPr>
          <a:xfrm>
            <a:off x="6227064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Nuevo trade-in and ITAD for the current Lenovo fleet, with a wipe certificate per device (NIST 800-88) kept as NCA evidence.</a:t>
            </a:r>
          </a:p>
        </p:txBody>
      </p:sp>
      <p:sp>
        <p:nvSpPr>
          <p:cNvPr id="215" name="Shape 215"/>
          <p:cNvSpPr/>
          <p:nvPr/>
        </p:nvSpPr>
        <p:spPr>
          <a:xfrm>
            <a:off x="795528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IT staff training</a:t>
            </a:r>
          </a:p>
        </p:txBody>
      </p:sp>
      <p:sp>
        <p:nvSpPr>
          <p:cNvPr id="216" name="Shape 216"/>
          <p:cNvSpPr/>
          <p:nvPr/>
        </p:nvSpPr>
        <p:spPr>
          <a:xfrm>
            <a:off x="795528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Apple Device Support and Deployment certifications for ITEUS, Independent Repair Provider status, and annual training credits.</a:t>
            </a:r>
          </a:p>
        </p:txBody>
      </p:sp>
      <p:sp>
        <p:nvSpPr>
          <p:cNvPr id="217" name="Shape 217"/>
          <p:cNvSpPr/>
          <p:nvPr/>
        </p:nvSpPr>
        <p:spPr>
          <a:xfrm>
            <a:off x="6227064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Accessibility and specialist equipment</a:t>
            </a:r>
          </a:p>
        </p:txBody>
      </p:sp>
      <p:sp>
        <p:nvSpPr>
          <p:cNvPr id="218" name="Shape 218"/>
          <p:cNvSpPr/>
          <p:nvPr/>
        </p:nvSpPr>
        <p:spPr>
          <a:xfrm>
            <a:off x="6227064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Built-in accessibility on every Mac and iPad (VoiceOver, Voice Control, Zoom), plus PWD kit on demand under the same billing.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21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Questions for Nuevo</a:t>
            </a:r>
          </a:p>
        </p:txBody>
      </p:sp>
      <p:sp>
        <p:nvSpPr>
          <p:cNvPr id="220" name="Subtitle 22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What we need confirmed, and what happens next</a:t>
            </a:r>
          </a:p>
        </p:txBody>
      </p:sp>
      <p:pic>
        <p:nvPicPr>
          <p:cNvPr id="221" name="Logo 221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222" name="Shape 222"/>
          <p:cNvSpPr/>
          <p:nvPr/>
        </p:nvSpPr>
        <p:spPr>
          <a:xfrm>
            <a:off x="795528" y="1737360"/>
            <a:ext cx="51572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28600" rIns="228600" tIns="182880" bIns="182880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D3068"/>
                </a:solidFill>
                <a:latin typeface="Arial"/>
                <a:cs typeface="Arial"/>
              </a:rPr>
              <a:t>To confirm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Contract holder: Nuevo KSA, and who carries the lease?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Minimum seats, and flex up or down mid-term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Onsite response times in Riyadh, Jeddah, Dammam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Coverage in our international station countries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Lost or stolen devices, and early exit terms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Month-48 buyout written into the master agreement</a:t>
            </a:r>
          </a:p>
        </p:txBody>
      </p:sp>
      <p:sp>
        <p:nvSpPr>
          <p:cNvPr id="223" name="Shape 223"/>
          <p:cNvSpPr/>
          <p:nvPr/>
        </p:nvSpPr>
        <p:spPr>
          <a:xfrm>
            <a:off x="6227064" y="1737360"/>
            <a:ext cx="51572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28600" rIns="228600" tIns="182880" bIns="182880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BBB4"/>
                </a:solidFill>
                <a:latin typeface="Arial"/>
                <a:cs typeface="Arial"/>
              </a:rPr>
              <a:t>Next steps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flynas shares fleet inventory for buyback valuation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Nuevo quotes M5 and M5 Pro tiers per seat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Pilot Macs for ITEUS app compatibility testing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Commercial proposal to Finance and Procurement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Price locked for the full term, including added seats</a:t>
            </a:r>
          </a:p>
        </p:txBody>
      </p:sp>
      <p:sp>
        <p:nvSpPr>
          <p:cNvPr id="224" name="Shape 224"/>
          <p:cNvSpPr/>
          <p:nvPr/>
        </p:nvSpPr>
        <p:spPr>
          <a:xfrm>
            <a:off x="795528" y="4919472"/>
            <a:ext cx="10588752" cy="603504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Goal: one per-seat price covering device, desk kit, support, lifecycle and disposal.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208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Beyond the desk: iPad for operations</a:t>
            </a:r>
          </a:p>
        </p:txBody>
      </p:sp>
      <p:sp>
        <p:nvSpPr>
          <p:cNvPr id="209" name="Subtitle 209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Additional equipment (Appendix B.4), on the same contract</a:t>
            </a:r>
          </a:p>
        </p:txBody>
      </p:sp>
      <p:pic>
        <p:nvPicPr>
          <p:cNvPr id="210" name="Logo 210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211" name="Shape 211"/>
          <p:cNvSpPr/>
          <p:nvPr/>
        </p:nvSpPr>
        <p:spPr>
          <a:xfrm>
            <a:off x="795528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Flight deck (EFB)</a:t>
            </a:r>
          </a:p>
        </p:txBody>
      </p:sp>
      <p:sp>
        <p:nvSpPr>
          <p:cNvPr id="212" name="Shape 212"/>
          <p:cNvSpPr/>
          <p:nvPr/>
        </p:nvSpPr>
        <p:spPr>
          <a:xfrm>
            <a:off x="795528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iPad Pro 11" or iPad Air for the Electronic Flight Bag, subject to GACA approval and the current EFB program.</a:t>
            </a:r>
          </a:p>
        </p:txBody>
      </p:sp>
      <p:sp>
        <p:nvSpPr>
          <p:cNvPr id="213" name="Shape 213"/>
          <p:cNvSpPr/>
          <p:nvPr/>
        </p:nvSpPr>
        <p:spPr>
          <a:xfrm>
            <a:off x="6227064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Cabin crew</a:t>
            </a:r>
          </a:p>
        </p:txBody>
      </p:sp>
      <p:sp>
        <p:nvSpPr>
          <p:cNvPr id="214" name="Shape 214"/>
          <p:cNvSpPr/>
          <p:nvPr/>
        </p:nvSpPr>
        <p:spPr>
          <a:xfrm>
            <a:off x="6227064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iPad mini for briefings, manuals, crew reports and onboard sales, managed in the same Intune tenant.</a:t>
            </a:r>
          </a:p>
        </p:txBody>
      </p:sp>
      <p:sp>
        <p:nvSpPr>
          <p:cNvPr id="215" name="Shape 215"/>
          <p:cNvSpPr/>
          <p:nvPr/>
        </p:nvSpPr>
        <p:spPr>
          <a:xfrm>
            <a:off x="795528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Engineering and maintenance</a:t>
            </a:r>
          </a:p>
        </p:txBody>
      </p:sp>
      <p:sp>
        <p:nvSpPr>
          <p:cNvPr id="216" name="Shape 216"/>
          <p:cNvSpPr/>
          <p:nvPr/>
        </p:nvSpPr>
        <p:spPr>
          <a:xfrm>
            <a:off x="795528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iPad Air in a rugged case for the e-tech log, manuals and task cards on the apron and in the hangar.</a:t>
            </a:r>
          </a:p>
        </p:txBody>
      </p:sp>
      <p:sp>
        <p:nvSpPr>
          <p:cNvPr id="217" name="Shape 217"/>
          <p:cNvSpPr/>
          <p:nvPr/>
        </p:nvSpPr>
        <p:spPr>
          <a:xfrm>
            <a:off x="6227064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Airport and station agents</a:t>
            </a:r>
          </a:p>
        </p:txBody>
      </p:sp>
      <p:sp>
        <p:nvSpPr>
          <p:cNvPr id="218" name="Shape 218"/>
          <p:cNvSpPr/>
          <p:nvPr/>
        </p:nvSpPr>
        <p:spPr>
          <a:xfrm>
            <a:off x="6227064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Shared iPads at gates and stations for check-in support, boarding and disruption handling across shifts.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208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Gaps to plan for</a:t>
            </a:r>
          </a:p>
        </p:txBody>
      </p:sp>
      <p:sp>
        <p:nvSpPr>
          <p:cNvPr id="209" name="Subtitle 209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Where a Mac fleet needs a plan, compared with today’s Windows fleet</a:t>
            </a:r>
          </a:p>
        </p:txBody>
      </p:sp>
      <p:pic>
        <p:nvPicPr>
          <p:cNvPr id="210" name="Logo 210" descr="Nuevo, Apple Business Partner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561320" y="274320"/>
            <a:ext cx="868680" cy="868680"/>
          </a:xfrm>
          <a:prstGeom prst="rect">
            <a:avLst/>
          </a:prstGeom>
        </p:spPr>
      </p:pic>
      <p:sp>
        <p:nvSpPr>
          <p:cNvPr id="211" name="Shape 211"/>
          <p:cNvSpPr/>
          <p:nvPr/>
        </p:nvSpPr>
        <p:spPr>
          <a:xfrm>
            <a:off x="795528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Windows-only apps</a:t>
            </a:r>
          </a:p>
        </p:txBody>
      </p:sp>
      <p:sp>
        <p:nvSpPr>
          <p:cNvPr id="212" name="Shape 212"/>
          <p:cNvSpPr/>
          <p:nvPr/>
        </p:nvSpPr>
        <p:spPr>
          <a:xfrm>
            <a:off x="795528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Platform choice stays (Policy 5.1): users who need Windows apps keep the B.1 tier, or use Windows 365.</a:t>
            </a:r>
          </a:p>
        </p:txBody>
      </p:sp>
      <p:sp>
        <p:nvSpPr>
          <p:cNvPr id="213" name="Shape 213"/>
          <p:cNvSpPr/>
          <p:nvPr/>
        </p:nvSpPr>
        <p:spPr>
          <a:xfrm>
            <a:off x="6227064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Docks and peripherals</a:t>
            </a:r>
          </a:p>
        </p:txBody>
      </p:sp>
      <p:sp>
        <p:nvSpPr>
          <p:cNvPr id="214" name="Shape 214"/>
          <p:cNvSpPr/>
          <p:nvPr/>
        </p:nvSpPr>
        <p:spPr>
          <a:xfrm>
            <a:off x="6227064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Apple makes no docks or monitors; Appendix B.2 already pairs Macs with Lenovo ThinkVision, the Lenovo USB-C dock and Belkin.</a:t>
            </a:r>
          </a:p>
        </p:txBody>
      </p:sp>
      <p:sp>
        <p:nvSpPr>
          <p:cNvPr id="215" name="Shape 215"/>
          <p:cNvSpPr/>
          <p:nvPr/>
        </p:nvSpPr>
        <p:spPr>
          <a:xfrm>
            <a:off x="795528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Drive retention</a:t>
            </a:r>
          </a:p>
        </p:txBody>
      </p:sp>
      <p:sp>
        <p:nvSpPr>
          <p:cNvPr id="216" name="Shape 216"/>
          <p:cNvSpPr/>
          <p:nvPr/>
        </p:nvSpPr>
        <p:spPr>
          <a:xfrm>
            <a:off x="795528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Mac SSDs are built in, so a failed drive cannot be kept; FileVault encryption and a remote wipe before repair cover it.</a:t>
            </a:r>
          </a:p>
        </p:txBody>
      </p:sp>
      <p:sp>
        <p:nvSpPr>
          <p:cNvPr id="217" name="Shape 217"/>
          <p:cNvSpPr/>
          <p:nvPr/>
        </p:nvSpPr>
        <p:spPr>
          <a:xfrm>
            <a:off x="6227064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2-in-1 users and buyback</a:t>
            </a:r>
          </a:p>
        </p:txBody>
      </p:sp>
      <p:sp>
        <p:nvSpPr>
          <p:cNvPr id="218" name="Shape 218"/>
          <p:cNvSpPr/>
          <p:nvPr/>
        </p:nvSpPr>
        <p:spPr>
          <a:xfrm>
            <a:off x="6227064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No touchscreen Mac: Director to VP users who need touch take B.1 or an iPad under B.4. Lenovo buyback runs via Nuevo.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ynas Presentation Template-2" id="{775F9B4F-E3C6-6744-A073-627919DDBF89}" vid="{10FAC79C-4966-084D-A2F5-B9CD4A099D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cec92f6-5859-4f6a-b76e-9f14529924a2}" enabled="0" method="" siteId="{1cec92f6-5859-4f6a-b76e-9f14529924a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24318</TotalTime>
  <Words>5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Flynas</vt:lpstr>
      <vt:lpstr>Flynas Bold</vt:lpstr>
      <vt:lpstr>Flynas Normal</vt:lpstr>
      <vt:lpstr>Gotham Rounded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Omar Othman</cp:lastModifiedBy>
  <cp:revision>249</cp:revision>
  <cp:lastPrinted>2022-10-02T09:18:39Z</cp:lastPrinted>
  <dcterms:created xsi:type="dcterms:W3CDTF">2020-02-16T07:51:25Z</dcterms:created>
  <dcterms:modified xsi:type="dcterms:W3CDTF">2026-04-22T06:47:53Z</dcterms:modified>
</cp:coreProperties>
</file>