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303" r:id="rId3"/>
    <p:sldId id="304" r:id="rId12"/>
    <p:sldId id="305" r:id="rId13"/>
    <p:sldId id="306" r:id="rId14"/>
    <p:sldId id="307" r:id="rId15"/>
    <p:sldId id="312" r:id="rId20"/>
    <p:sldId id="308" r:id="rId16"/>
    <p:sldId id="309" r:id="rId17"/>
    <p:sldId id="310" r:id="rId18"/>
    <p:sldId id="313" r:id="rId21"/>
    <p:sldId id="311" r:id="rId19"/>
    <p:sldId id="270" r:id="rId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F01F09-2976-C381-D7C4-A37BF3816481}" name="Nader Alotaibi" initials="NA" userId="S::N.AlOtaibi@flynas.com::6e2f472c-ef1d-4a4f-9518-c5d03b03858b" providerId="AD"/>
  <p188:author id="{AE56501E-FAED-7A04-7521-AB8CB00F3FD2}" name="Lamia Alammari" initials="LA" userId="S::Lalammari@flynas.com::79da9f8b-e423-4268-aaa7-be6109cd30d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6B0C"/>
    <a:srgbClr val="00BBB4"/>
    <a:srgbClr val="90D0C2"/>
    <a:srgbClr val="BAD030"/>
    <a:srgbClr val="AC1850"/>
    <a:srgbClr val="C81C5E"/>
    <a:srgbClr val="F58630"/>
    <a:srgbClr val="767171"/>
    <a:srgbClr val="94A626"/>
    <a:srgbClr val="00A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32"/>
  </p:normalViewPr>
  <p:slideViewPr>
    <p:cSldViewPr snapToGrid="0" snapToObjects="1">
      <p:cViewPr varScale="1">
        <p:scale>
          <a:sx n="111" d="100"/>
          <a:sy n="111" d="100"/>
        </p:scale>
        <p:origin x="64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2.xml"/><Relationship Id="rId20" Type="http://schemas.openxmlformats.org/officeDocument/2006/relationships/slide" Target="slides/slide7.xml"/><Relationship Id="rId21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ar Othman" userId="8140244e-c282-4e86-9d45-59369a3bb7be" providerId="ADAL" clId="{35C72BF1-2A2E-4B51-B1BD-059D3FFDFB23}"/>
    <pc:docChg chg="custSel delSld modSld">
      <pc:chgData name="Omar Othman" userId="8140244e-c282-4e86-9d45-59369a3bb7be" providerId="ADAL" clId="{35C72BF1-2A2E-4B51-B1BD-059D3FFDFB23}" dt="2026-04-22T06:47:49.684" v="17" actId="2696"/>
      <pc:docMkLst>
        <pc:docMk/>
      </pc:docMkLst>
      <pc:sldChg chg="modSp mod">
        <pc:chgData name="Omar Othman" userId="8140244e-c282-4e86-9d45-59369a3bb7be" providerId="ADAL" clId="{35C72BF1-2A2E-4B51-B1BD-059D3FFDFB23}" dt="2026-04-22T06:47:27.833" v="6" actId="20577"/>
        <pc:sldMkLst>
          <pc:docMk/>
          <pc:sldMk cId="1844162893" sldId="257"/>
        </pc:sldMkLst>
        <pc:spChg chg="mod">
          <ac:chgData name="Omar Othman" userId="8140244e-c282-4e86-9d45-59369a3bb7be" providerId="ADAL" clId="{35C72BF1-2A2E-4B51-B1BD-059D3FFDFB23}" dt="2026-04-22T06:47:27.833" v="6" actId="20577"/>
          <ac:spMkLst>
            <pc:docMk/>
            <pc:sldMk cId="1844162893" sldId="257"/>
            <ac:spMk id="2" creationId="{3D428D5C-2A25-F348-BB7E-7806076748D0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1697162954" sldId="299"/>
        </pc:sldMkLst>
      </pc:sldChg>
      <pc:sldChg chg="delSp modSp mod">
        <pc:chgData name="Omar Othman" userId="8140244e-c282-4e86-9d45-59369a3bb7be" providerId="ADAL" clId="{35C72BF1-2A2E-4B51-B1BD-059D3FFDFB23}" dt="2026-04-22T06:47:39.862" v="16" actId="478"/>
        <pc:sldMkLst>
          <pc:docMk/>
          <pc:sldMk cId="3921271985" sldId="303"/>
        </pc:sldMkLst>
        <pc:spChg chg="mod">
          <ac:chgData name="Omar Othman" userId="8140244e-c282-4e86-9d45-59369a3bb7be" providerId="ADAL" clId="{35C72BF1-2A2E-4B51-B1BD-059D3FFDFB23}" dt="2026-04-22T06:47:36.637" v="14" actId="20577"/>
          <ac:spMkLst>
            <pc:docMk/>
            <pc:sldMk cId="3921271985" sldId="303"/>
            <ac:spMk id="2" creationId="{1066CBA5-F8FF-2B4F-890E-E3CE368AAA22}"/>
          </ac:spMkLst>
        </pc:spChg>
        <pc:spChg chg="mod">
          <ac:chgData name="Omar Othman" userId="8140244e-c282-4e86-9d45-59369a3bb7be" providerId="ADAL" clId="{35C72BF1-2A2E-4B51-B1BD-059D3FFDFB23}" dt="2026-04-22T06:47:33.802" v="10" actId="20577"/>
          <ac:spMkLst>
            <pc:docMk/>
            <pc:sldMk cId="3921271985" sldId="303"/>
            <ac:spMk id="3" creationId="{5F9D21DF-9615-2046-8CC5-9E7B4CB97B31}"/>
          </ac:spMkLst>
        </pc:spChg>
        <pc:spChg chg="del">
          <ac:chgData name="Omar Othman" userId="8140244e-c282-4e86-9d45-59369a3bb7be" providerId="ADAL" clId="{35C72BF1-2A2E-4B51-B1BD-059D3FFDFB23}" dt="2026-04-22T06:47:38.845" v="15" actId="478"/>
          <ac:spMkLst>
            <pc:docMk/>
            <pc:sldMk cId="3921271985" sldId="303"/>
            <ac:spMk id="4" creationId="{A1E7A5CC-75B9-3DD9-D86D-296AE83EAAC5}"/>
          </ac:spMkLst>
        </pc:spChg>
        <pc:spChg chg="del">
          <ac:chgData name="Omar Othman" userId="8140244e-c282-4e86-9d45-59369a3bb7be" providerId="ADAL" clId="{35C72BF1-2A2E-4B51-B1BD-059D3FFDFB23}" dt="2026-04-22T06:47:39.862" v="16" actId="478"/>
          <ac:spMkLst>
            <pc:docMk/>
            <pc:sldMk cId="3921271985" sldId="303"/>
            <ac:spMk id="6" creationId="{9E68A203-8D26-75DD-9F85-E276E55810F7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3411633887" sldId="309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2661652453" sldId="310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501542376" sldId="311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69686481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28AB-ADCE-4C0F-BF9B-E5220289AE2E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AF82A-5C3E-4C4F-8BBD-816C5DF6A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1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85897-B230-C447-BDED-17ACB2C2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8B67D-3A8E-B047-9D26-EC74E6E6B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3B4B7-E0CB-A144-9925-230537970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95C53-93AF-6F48-89DB-10E4BEF5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1B725-91E6-F949-B5F8-215FAA5A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0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8929-5509-A746-89DC-5253DD1D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1412D-35EF-8F4E-8FA0-54124721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D6582-4130-7C47-89D1-133980ED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F129-ABF7-894D-80A0-DE6C18F9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929C-FBE0-2C4B-B296-A73FF5ED0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99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FF83-4AEC-0449-967F-12F6E192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F068F-A69B-C544-98C5-DB53A3644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31907-AE17-9643-B70D-8357F8A9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FAF6-9951-9B45-AC65-E4FCCEA77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F4513-55B7-EA4B-869F-15358034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5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2EE7C-C03A-BC42-BF8C-19A9D30E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6A40A-95BB-9B47-8277-AE3118A2E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2CCEF-C637-BB4A-A630-D04D266926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C1EB-4026-EA49-987E-B8EFB826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EF355-D084-6A45-8E46-6E56DBB03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53431-F115-5347-A876-E5356640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16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7F91-7080-6C4F-B6B1-ED4E8B518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45359-B53D-3F4F-920F-B836B538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29C89-1D6C-7C4B-9B88-5181E646C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D3978-7786-604A-AA31-01BF33473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ADF9E-943A-B54C-9C57-5F0A6A4ED3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36FCD-DD10-3C48-98CA-628180D9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BD687-3818-0C42-8C55-8A4C55E1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2168-AE22-704B-BB2A-1F77F575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0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200-801B-5E45-937B-4A1D3A2C1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7BC0E-1576-5948-B585-920E2269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F6294-D10F-AF46-BC7F-EBA9D49E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7D959-D3CC-C547-871F-3C8FF085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254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3FA556-BCAF-2447-9538-3A03CFB4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21290-9872-3C41-B540-26E66A57C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EA450-CFB3-4D4C-9A90-E271E3FF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50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BF37-C94D-0C44-91F4-CDC21F76D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A05A-5889-A448-824B-EE8F0D379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5111F-9633-1448-8508-51892BFAE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36CF5-9655-4F45-B7BE-FBF6714B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73CC6-A3BE-684A-87CC-B26049054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284A3-65AF-C749-8E78-13133B13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9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8AA6-2F8A-E141-A29C-433CE25C9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7A9F20-2A0D-6B4C-84C9-BDC70E7A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A37344-07BA-EF49-A9D5-51667200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BF119-5EBA-9A4A-A803-5ABF017C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9E1BB-14A9-7341-BCD6-FCDD2666A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70E1D-C8C2-214F-95A1-7C2474AA9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35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ABA6-6448-D144-862D-6E019161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029AC-EF5F-0C4F-9239-C24B570E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006E-81E7-1745-94C8-82842913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BB5D-7CE4-774F-ACFC-982A6336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AFBCF-DC6B-E945-9F07-865B18426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2DA7AA-5779-D84C-ACD6-BDC1EA81E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CD905-3966-3640-806E-250DD43AE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52006-39FB-0E4E-82E3-6453978F4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C8812-C6A1-3C49-82E3-D8E703B7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CE491-5C33-0043-AFED-3CFB0674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36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75BC2C-487D-5443-81D4-9DE1F731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DA8F-0153-014B-BDE7-7BFE6CB71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B046F-7BD8-464F-ADAB-895BBD6FF8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E0F6-6C9C-D34E-8EEF-1007E71DE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BB36-42E9-8149-A82C-2F2744E44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5"/>
          <p:cNvSpPr txBox="1"/>
          <p:nvPr/>
        </p:nvSpPr>
        <p:spPr>
          <a:xfrm>
            <a:off x="6812280" y="7315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Flynas Bold"/>
                <a:cs typeface="Flynas Bold"/>
              </a:rPr>
              <a:t>Device as a Service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6839712" y="1572768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Leasing and lifecycle partnership</a:t>
            </a:r>
          </a:p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flynas and Nuevo, Apple Business Partner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839712" y="24871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100" b="0" dirty="0">
                <a:solidFill>
                  <a:srgbClr val="FFFFFF"/>
                </a:solidFill>
                <a:latin typeface="Arial"/>
                <a:cs typeface="Arial"/>
              </a:rPr>
              <a:t>ITEUS · October 2026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8641080" y="31546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lIns="0" rIns="0" tIns="0" bIns="0">
            <a:noAutofit/>
          </a:bodyPr>
          <a:lstStyle/>
          <a:p>
            <a:pPr algn="r"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</a:p>
        </p:txBody>
      </p:sp>
      <p:pic>
        <p:nvPicPr>
          <p:cNvPr id="229" name="Logo 229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9326880" y="2743200"/>
            <a:ext cx="1188720" cy="11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6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Why we are meeting</a:t>
            </a:r>
          </a:p>
        </p:txBody>
      </p:sp>
      <p:sp>
        <p:nvSpPr>
          <p:cNvPr id="102" name="Subtitle 102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Move flynas endpoints to one Apple lifecycle service</a:t>
            </a:r>
          </a:p>
        </p:txBody>
      </p:sp>
      <p:pic>
        <p:nvPicPr>
          <p:cNvPr id="103" name="Logo 103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04" name="Shape 104"/>
          <p:cNvSpPr/>
          <p:nvPr/>
        </p:nvSpPr>
        <p:spPr>
          <a:xfrm>
            <a:off x="795528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Today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Buy back fleet</a:t>
            </a:r>
          </a:p>
        </p:txBody>
      </p:sp>
      <p:sp>
        <p:nvSpPr>
          <p:cNvPr id="105" name="Shape 105"/>
          <p:cNvSpPr/>
          <p:nvPr/>
        </p:nvSpPr>
        <p:spPr>
          <a:xfrm>
            <a:off x="325069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06" name="Shape 106"/>
          <p:cNvSpPr/>
          <p:nvPr/>
        </p:nvSpPr>
        <p:spPr>
          <a:xfrm>
            <a:off x="3525012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New HQ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Fit out with Mac</a:t>
            </a:r>
          </a:p>
        </p:txBody>
      </p:sp>
      <p:sp>
        <p:nvSpPr>
          <p:cNvPr id="107" name="Shape 107"/>
          <p:cNvSpPr/>
          <p:nvPr/>
        </p:nvSpPr>
        <p:spPr>
          <a:xfrm>
            <a:off x="5980176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08" name="Shape 108"/>
          <p:cNvSpPr/>
          <p:nvPr/>
        </p:nvSpPr>
        <p:spPr>
          <a:xfrm>
            <a:off x="6254496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Anywhere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Support staff</a:t>
            </a:r>
          </a:p>
        </p:txBody>
      </p:sp>
      <p:sp>
        <p:nvSpPr>
          <p:cNvPr id="109" name="Shape 109"/>
          <p:cNvSpPr/>
          <p:nvPr/>
        </p:nvSpPr>
        <p:spPr>
          <a:xfrm>
            <a:off x="870966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10" name="Shape 110"/>
          <p:cNvSpPr/>
          <p:nvPr/>
        </p:nvSpPr>
        <p:spPr>
          <a:xfrm>
            <a:off x="8983980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Every 3 years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Refresh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One partner: Nuevo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Nuevo, as Apple Authorised Reseller, covers hardware, deployment, AppleCare support, lifecycle and disposal for one per-seat monthly fee.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CapEx to OpEx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Existing Lenovo assets are bought back by Nuevo and the value is applied to the new service.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Standards kept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Tiers follow Policy Appendix B.2: MacBook Air for Officer to Senior Manager, MacBook Pro 14" for Director to VP.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Laptop first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Laptop, 27" USB-C monitor and multiport adapter at every desk; iMac only as the desktop alternative.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1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What flynas needs from Nuevo</a:t>
            </a:r>
          </a:p>
        </p:txBody>
      </p:sp>
      <p:sp>
        <p:nvSpPr>
          <p:cNvPr id="120" name="Subtitle 1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Eight requirements for the service</a:t>
            </a:r>
          </a:p>
        </p:txBody>
      </p:sp>
      <p:pic>
        <p:nvPicPr>
          <p:cNvPr id="121" name="Logo 12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22" name="Shape 122"/>
          <p:cNvSpPr/>
          <p:nvPr/>
        </p:nvSpPr>
        <p:spPr>
          <a:xfrm>
            <a:off x="795528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Full buyback</a:t>
            </a:r>
          </a:p>
        </p:txBody>
      </p:sp>
      <p:sp>
        <p:nvSpPr>
          <p:cNvPr id="123" name="Shape 123"/>
          <p:cNvSpPr/>
          <p:nvPr/>
        </p:nvSpPr>
        <p:spPr>
          <a:xfrm>
            <a:off x="795528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All laptops, desktops, monitors, docks, headsets and peripherals, valued and removed.</a:t>
            </a:r>
          </a:p>
        </p:txBody>
      </p:sp>
      <p:sp>
        <p:nvSpPr>
          <p:cNvPr id="124" name="Shape 124"/>
          <p:cNvSpPr/>
          <p:nvPr/>
        </p:nvSpPr>
        <p:spPr>
          <a:xfrm>
            <a:off x="3488436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HQ fit-out</a:t>
            </a:r>
          </a:p>
        </p:txBody>
      </p:sp>
      <p:sp>
        <p:nvSpPr>
          <p:cNvPr id="125" name="Shape 125"/>
          <p:cNvSpPr/>
          <p:nvPr/>
        </p:nvSpPr>
        <p:spPr>
          <a:xfrm>
            <a:off x="3488436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New HQ furnished to the Appendix B standard equipment list, macOS platform.</a:t>
            </a:r>
          </a:p>
        </p:txBody>
      </p:sp>
      <p:sp>
        <p:nvSpPr>
          <p:cNvPr id="126" name="Shape 126"/>
          <p:cNvSpPr/>
          <p:nvPr/>
        </p:nvSpPr>
        <p:spPr>
          <a:xfrm>
            <a:off x="6181344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Support abroad</a:t>
            </a:r>
          </a:p>
        </p:txBody>
      </p:sp>
      <p:sp>
        <p:nvSpPr>
          <p:cNvPr id="127" name="Shape 127"/>
          <p:cNvSpPr/>
          <p:nvPr/>
        </p:nvSpPr>
        <p:spPr>
          <a:xfrm>
            <a:off x="6181344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Staff outside KSA repaired fast, or given a working replacement with their data.</a:t>
            </a:r>
          </a:p>
        </p:txBody>
      </p:sp>
      <p:sp>
        <p:nvSpPr>
          <p:cNvPr id="128" name="Shape 128"/>
          <p:cNvSpPr/>
          <p:nvPr/>
        </p:nvSpPr>
        <p:spPr>
          <a:xfrm>
            <a:off x="8874252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Asset tracking</a:t>
            </a:r>
          </a:p>
        </p:txBody>
      </p:sp>
      <p:sp>
        <p:nvSpPr>
          <p:cNvPr id="129" name="Shape 129"/>
          <p:cNvSpPr/>
          <p:nvPr/>
        </p:nvSpPr>
        <p:spPr>
          <a:xfrm>
            <a:off x="8874252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Apple Business Manager and Intune data on every device, owner, warranty and term.</a:t>
            </a:r>
          </a:p>
        </p:txBody>
      </p:sp>
      <p:sp>
        <p:nvSpPr>
          <p:cNvPr id="130" name="Shape 130"/>
          <p:cNvSpPr/>
          <p:nvPr/>
        </p:nvSpPr>
        <p:spPr>
          <a:xfrm>
            <a:off x="795528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3 + 1 refresh</a:t>
            </a:r>
          </a:p>
        </p:txBody>
      </p:sp>
      <p:sp>
        <p:nvSpPr>
          <p:cNvPr id="131" name="Shape 131"/>
          <p:cNvSpPr/>
          <p:nvPr/>
        </p:nvSpPr>
        <p:spPr>
          <a:xfrm>
            <a:off x="795528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36-month refresh, optional 4th year, then device can pass to the employee.</a:t>
            </a:r>
          </a:p>
        </p:txBody>
      </p:sp>
      <p:sp>
        <p:nvSpPr>
          <p:cNvPr id="132" name="Shape 132"/>
          <p:cNvSpPr/>
          <p:nvPr/>
        </p:nvSpPr>
        <p:spPr>
          <a:xfrm>
            <a:off x="3488436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IT staff training</a:t>
            </a:r>
          </a:p>
        </p:txBody>
      </p:sp>
      <p:sp>
        <p:nvSpPr>
          <p:cNvPr id="133" name="Shape 133"/>
          <p:cNvSpPr/>
          <p:nvPr/>
        </p:nvSpPr>
        <p:spPr>
          <a:xfrm>
            <a:off x="3488436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Regular technical training and certification for the ITEUS support team.</a:t>
            </a:r>
          </a:p>
        </p:txBody>
      </p:sp>
      <p:sp>
        <p:nvSpPr>
          <p:cNvPr id="134" name="Shape 134"/>
          <p:cNvSpPr/>
          <p:nvPr/>
        </p:nvSpPr>
        <p:spPr>
          <a:xfrm>
            <a:off x="6181344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Accessibility</a:t>
            </a:r>
          </a:p>
        </p:txBody>
      </p:sp>
      <p:sp>
        <p:nvSpPr>
          <p:cNvPr id="135" name="Shape 135"/>
          <p:cNvSpPr/>
          <p:nvPr/>
        </p:nvSpPr>
        <p:spPr>
          <a:xfrm>
            <a:off x="6181344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Equipment for staff with disabilities (PWD), provided when needed.</a:t>
            </a:r>
          </a:p>
        </p:txBody>
      </p:sp>
      <p:sp>
        <p:nvSpPr>
          <p:cNvPr id="136" name="Shape 136"/>
          <p:cNvSpPr/>
          <p:nvPr/>
        </p:nvSpPr>
        <p:spPr>
          <a:xfrm>
            <a:off x="8874252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Specialist kit</a:t>
            </a:r>
          </a:p>
        </p:txBody>
      </p:sp>
      <p:sp>
        <p:nvSpPr>
          <p:cNvPr id="137" name="Shape 137"/>
          <p:cNvSpPr/>
          <p:nvPr/>
        </p:nvSpPr>
        <p:spPr>
          <a:xfrm>
            <a:off x="8874252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Mac Studio and high-spec MacBook Pro on demand for specific roles.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Device lineup: per Appendix B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Policy tiers mapped to the 2026 Apple range</a:t>
            </a:r>
          </a:p>
        </p:txBody>
      </p:sp>
      <p:pic>
        <p:nvPicPr>
          <p:cNvPr id="141" name="Logo 14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2944368"/>
        </p:xfrm>
        <a:graphic>
          <a:graphicData uri="http://schemas.openxmlformats.org/drawingml/2006/table">
            <a:tbl>
              <a:tblPr firstRow="1" bandRow="1"/>
              <a:tblGrid>
                <a:gridCol w="1920240"/>
                <a:gridCol w="2194560"/>
                <a:gridCol w="2587752"/>
                <a:gridCol w="1874520"/>
                <a:gridCol w="2011680"/>
              </a:tblGrid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Policy tier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Today (Lenovo)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equivalent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Chip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Memory · storage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Manager, 13"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E14 / L14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Air 13"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Manager, 15"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E16 / L16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Air 15"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Director to VP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Carbon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Pro 14"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 *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C-Level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Pro 14" or 16"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Pro or M5 Max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Desktop, Officer to VP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50 AIO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iMac 24"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M4,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Specialists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Custom / workstation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 Studio / MacBook Pro 16"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Max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Per requirement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Every Mac: 24GB memory and 1TB SSD as standard, zero-touch enrolment via Apple Business Manager and Intune.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* Policy exception: Director to VP at 24GB is below the 32GB minimum in Appendix B.2 and needs approval. Windows tiers (B.1) stay available under Policy 5.1.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44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Chip options: M5 and M5 Pro</a:t>
            </a:r>
          </a:p>
        </p:txBody>
      </p:sp>
      <p:sp>
        <p:nvSpPr>
          <p:cNvPr id="145" name="Subtitle 145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Two tiers quoted, so flynas can choose per role</a:t>
            </a:r>
          </a:p>
        </p:txBody>
      </p:sp>
      <p:pic>
        <p:nvPicPr>
          <p:cNvPr id="146" name="Logo 146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47" name="Shape 147"/>
          <p:cNvSpPr/>
          <p:nvPr/>
        </p:nvSpPr>
        <p:spPr>
          <a:xfrm>
            <a:off x="795528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Standard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Apple M5</a:t>
            </a:r>
          </a:p>
        </p:txBody>
      </p:sp>
      <p:sp>
        <p:nvSpPr>
          <p:cNvPr id="148" name="Shape 148"/>
          <p:cNvSpPr/>
          <p:nvPr/>
        </p:nvSpPr>
        <p:spPr>
          <a:xfrm>
            <a:off x="795528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Used in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MacBook Air 13" and 15", MacBook Pro 14"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Cores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10-core CPU (4 performance, 6 efficiency)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plus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I/O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Thunderbolt 4, two external displays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Officer to VP; 24GB, 1TB SSD</a:t>
            </a:r>
          </a:p>
        </p:txBody>
      </p:sp>
      <p:sp>
        <p:nvSpPr>
          <p:cNvPr id="149" name="Shape 149"/>
          <p:cNvSpPr/>
          <p:nvPr/>
        </p:nvSpPr>
        <p:spPr>
          <a:xfrm>
            <a:off x="6227064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E5F8F7"/>
                </a:solidFill>
                <a:latin typeface="Arial"/>
                <a:cs typeface="Arial"/>
              </a:rPr>
              <a:t>Performance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Apple M5 Pro</a:t>
            </a:r>
          </a:p>
        </p:txBody>
      </p:sp>
      <p:sp>
        <p:nvSpPr>
          <p:cNvPr id="150" name="Shape 150"/>
          <p:cNvSpPr/>
          <p:nvPr/>
        </p:nvSpPr>
        <p:spPr>
          <a:xfrm>
            <a:off x="6227064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Used in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MacBook Pro 14" or 16" for C-Level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Cores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15 or 18-core CPU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plus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Graphics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 or 20-core GPU, Thunderbolt 5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C-Level and specialists, per IT assessment</a:t>
            </a:r>
          </a:p>
        </p:txBody>
      </p:sp>
      <p:sp>
        <p:nvSpPr>
          <p:cNvPr id="151" name="Shape 151"/>
          <p:cNvSpPr/>
          <p:nvPr/>
        </p:nvSpPr>
        <p:spPr>
          <a:xfrm>
            <a:off x="795528" y="493776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Can Nuevo price both tiers per seat, and supply pilot Macs so ITEUS can test our Windows apps first?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itle 152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One desk standard for the new HQ</a:t>
            </a:r>
          </a:p>
        </p:txBody>
      </p:sp>
      <p:sp>
        <p:nvSpPr>
          <p:cNvPr id="153" name="Subtitle 153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Appendix B kit at every desk; iMac as the desktop option</a:t>
            </a:r>
          </a:p>
        </p:txBody>
      </p:sp>
      <p:pic>
        <p:nvPicPr>
          <p:cNvPr id="154" name="Logo 154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55" name="Shape 155"/>
          <p:cNvSpPr/>
          <p:nvPr/>
        </p:nvSpPr>
        <p:spPr>
          <a:xfrm>
            <a:off x="795528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MacBook Air or Pro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1TB SSD</a:t>
            </a:r>
          </a:p>
        </p:txBody>
      </p:sp>
      <p:sp>
        <p:nvSpPr>
          <p:cNvPr id="156" name="Shape 156"/>
          <p:cNvSpPr/>
          <p:nvPr/>
        </p:nvSpPr>
        <p:spPr>
          <a:xfrm>
            <a:off x="2704795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57" name="Shape 157"/>
          <p:cNvSpPr/>
          <p:nvPr/>
        </p:nvSpPr>
        <p:spPr>
          <a:xfrm>
            <a:off x="2979115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Belkin 11-in-1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USB-C adapter</a:t>
            </a:r>
          </a:p>
        </p:txBody>
      </p:sp>
      <p:sp>
        <p:nvSpPr>
          <p:cNvPr id="158" name="Shape 158"/>
          <p:cNvSpPr/>
          <p:nvPr/>
        </p:nvSpPr>
        <p:spPr>
          <a:xfrm>
            <a:off x="488838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59" name="Shape 159"/>
          <p:cNvSpPr/>
          <p:nvPr/>
        </p:nvSpPr>
        <p:spPr>
          <a:xfrm>
            <a:off x="5162702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27" ThinkVision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USB-C monitor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197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61" name="Shape 161"/>
          <p:cNvSpPr/>
          <p:nvPr/>
        </p:nvSpPr>
        <p:spPr>
          <a:xfrm>
            <a:off x="7346290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Magic Keyboard, Mouse, headset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Peripherals</a:t>
            </a:r>
          </a:p>
        </p:txBody>
      </p:sp>
      <p:sp>
        <p:nvSpPr>
          <p:cNvPr id="162" name="Shape 162"/>
          <p:cNvSpPr/>
          <p:nvPr/>
        </p:nvSpPr>
        <p:spPr>
          <a:xfrm>
            <a:off x="9255557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63" name="Shape 163"/>
          <p:cNvSpPr/>
          <p:nvPr/>
        </p:nvSpPr>
        <p:spPr>
          <a:xfrm>
            <a:off x="9529877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One line item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Desk kit</a:t>
            </a:r>
          </a:p>
        </p:txBody>
      </p:sp>
      <p:sp>
        <p:nvSpPr>
          <p:cNvPr id="164" name="TextBox 164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Default</a:t>
            </a:r>
          </a:p>
        </p:txBody>
      </p:sp>
      <p:sp>
        <p:nvSpPr>
          <p:cNvPr id="165" name="TextBox 165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Laptop, 27" Lenovo ThinkVision, Belkin adapter, Magic Keyboard and Mouse (or Trackpad) and a wireless VoIP headset.</a:t>
            </a:r>
          </a:p>
        </p:txBody>
      </p:sp>
      <p:sp>
        <p:nvSpPr>
          <p:cNvPr id="166" name="TextBox 166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Docks</a:t>
            </a:r>
          </a:p>
        </p:txBody>
      </p:sp>
      <p:sp>
        <p:nvSpPr>
          <p:cNvPr id="167" name="TextBox 167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Lenovo Dock Universal USB-C standard for Director to VP; on request for Officer to Senior Manager.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Desktop option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iMac 24" with 24GB and 1TB as the alternative to a laptop for Officer to VP, on the same contract.</a:t>
            </a:r>
          </a:p>
        </p:txBody>
      </p:sp>
      <p:sp>
        <p:nvSpPr>
          <p:cNvPr id="170" name="TextBox 170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Ready on arrival</a:t>
            </a:r>
          </a:p>
        </p:txBody>
      </p:sp>
      <p:sp>
        <p:nvSpPr>
          <p:cNvPr id="171" name="TextBox 171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Zero-touch enrolment through Apple Business Manager and Intune, asset tagged and staged for the HQ move.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Beyond the desk: iPad for operations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Additional equipment (Appendix B.4), on the same contract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3346704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Flight deck (EFB)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3346704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Pro 11" or iPad Air for the Electronic Flight Bag, subject to GACA approval and the current EFB program.</a:t>
            </a:r>
          </a:p>
        </p:txBody>
      </p:sp>
      <p:sp>
        <p:nvSpPr>
          <p:cNvPr id="213" name="Shape 213"/>
          <p:cNvSpPr/>
          <p:nvPr/>
        </p:nvSpPr>
        <p:spPr>
          <a:xfrm>
            <a:off x="4416552" y="1828800"/>
            <a:ext cx="3346704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Cabin crew</a:t>
            </a:r>
          </a:p>
        </p:txBody>
      </p:sp>
      <p:sp>
        <p:nvSpPr>
          <p:cNvPr id="214" name="Shape 214"/>
          <p:cNvSpPr/>
          <p:nvPr/>
        </p:nvSpPr>
        <p:spPr>
          <a:xfrm>
            <a:off x="4416552" y="2249424"/>
            <a:ext cx="3346704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(A16) for briefings, manuals, crew reports and onboard sales, managed in the same Intune tenant.</a:t>
            </a:r>
          </a:p>
        </p:txBody>
      </p:sp>
      <p:sp>
        <p:nvSpPr>
          <p:cNvPr id="215" name="Shape 215"/>
          <p:cNvSpPr/>
          <p:nvPr/>
        </p:nvSpPr>
        <p:spPr>
          <a:xfrm>
            <a:off x="8037576" y="1828800"/>
            <a:ext cx="3346704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Engineering and maintenance</a:t>
            </a:r>
          </a:p>
        </p:txBody>
      </p:sp>
      <p:sp>
        <p:nvSpPr>
          <p:cNvPr id="216" name="Shape 216"/>
          <p:cNvSpPr/>
          <p:nvPr/>
        </p:nvSpPr>
        <p:spPr>
          <a:xfrm>
            <a:off x="8037576" y="2249424"/>
            <a:ext cx="3346704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Air in a rugged case for the e-tech log, manuals and task cards on the apron and in the hangar.</a:t>
            </a:r>
          </a:p>
        </p:txBody>
      </p:sp>
      <p:sp>
        <p:nvSpPr>
          <p:cNvPr id="217" name="Callout"/>
          <p:cNvSpPr/>
          <p:nvPr/>
        </p:nvSpPr>
        <p:spPr>
          <a:xfrm>
            <a:off x="795528" y="406908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Each iPad needs supervisor and Department Head approval (B.4), then enrols via ABM and Intune.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itle 172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Support anywhere, back to work fast</a:t>
            </a:r>
          </a:p>
        </p:txBody>
      </p:sp>
      <p:sp>
        <p:nvSpPr>
          <p:cNvPr id="173" name="Subtitle 173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Nuevo and AppleCare provide abroad, and what flynas adds</a:t>
            </a:r>
          </a:p>
        </p:txBody>
      </p:sp>
      <p:pic>
        <p:nvPicPr>
          <p:cNvPr id="174" name="Logo 174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75" name="Shape 175"/>
          <p:cNvSpPr/>
          <p:nvPr/>
        </p:nvSpPr>
        <p:spPr>
          <a:xfrm>
            <a:off x="795528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Staff abroad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Device fails</a:t>
            </a:r>
          </a:p>
        </p:txBody>
      </p:sp>
      <p:sp>
        <p:nvSpPr>
          <p:cNvPr id="176" name="Shape 176"/>
          <p:cNvSpPr/>
          <p:nvPr/>
        </p:nvSpPr>
        <p:spPr>
          <a:xfrm>
            <a:off x="325069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77" name="Shape 177"/>
          <p:cNvSpPr/>
          <p:nvPr/>
        </p:nvSpPr>
        <p:spPr>
          <a:xfrm>
            <a:off x="3525012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AppleCare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Remote diagnosis</a:t>
            </a:r>
          </a:p>
        </p:txBody>
      </p:sp>
      <p:sp>
        <p:nvSpPr>
          <p:cNvPr id="178" name="Shape 178"/>
          <p:cNvSpPr/>
          <p:nvPr/>
        </p:nvSpPr>
        <p:spPr>
          <a:xfrm>
            <a:off x="5980176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79" name="Shape 179"/>
          <p:cNvSpPr/>
          <p:nvPr/>
        </p:nvSpPr>
        <p:spPr>
          <a:xfrm>
            <a:off x="6254496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Onsite repair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or unit swap</a:t>
            </a:r>
          </a:p>
        </p:txBody>
      </p:sp>
      <p:sp>
        <p:nvSpPr>
          <p:cNvPr id="180" name="Shape 180"/>
          <p:cNvSpPr/>
          <p:nvPr/>
        </p:nvSpPr>
        <p:spPr>
          <a:xfrm>
            <a:off x="870966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81" name="Shape 181"/>
          <p:cNvSpPr/>
          <p:nvPr/>
        </p:nvSpPr>
        <p:spPr>
          <a:xfrm>
            <a:off x="8983980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Intune + OneDrive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Same data, same apps</a:t>
            </a:r>
          </a:p>
        </p:txBody>
      </p:sp>
      <p:sp>
        <p:nvSpPr>
          <p:cNvPr id="182" name="TextBox 182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How Apple works</a:t>
            </a:r>
          </a:p>
        </p:txBody>
      </p:sp>
      <p:sp>
        <p:nvSpPr>
          <p:cNvPr id="183" name="TextBox 183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AppleCare for Enterprise: 24/7 support for IT, onsite repair where offered, and Apple Stores and service providers worldwide.</a:t>
            </a:r>
          </a:p>
        </p:txBody>
      </p:sp>
      <p:sp>
        <p:nvSpPr>
          <p:cNvPr id="184" name="TextBox 184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Travel cover</a:t>
            </a:r>
          </a:p>
        </p:txBody>
      </p:sp>
      <p:sp>
        <p:nvSpPr>
          <p:cNvPr id="185" name="TextBox 185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Onsite coverage in KSA and in each international station country to be confirmed by Nuevo.</a:t>
            </a:r>
          </a:p>
        </p:txBody>
      </p:sp>
      <p:sp>
        <p:nvSpPr>
          <p:cNvPr id="186" name="TextBox 186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Our ask</a:t>
            </a:r>
          </a:p>
        </p:txBody>
      </p:sp>
      <p:sp>
        <p:nvSpPr>
          <p:cNvPr id="187" name="TextBox 187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Pre-enrolled spare MacBooks at key international stations, plus advance exchange shipping.</a:t>
            </a:r>
          </a:p>
        </p:txBody>
      </p:sp>
      <p:sp>
        <p:nvSpPr>
          <p:cNvPr id="188" name="TextBox 188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Data protection</a:t>
            </a:r>
          </a:p>
        </p:txBody>
      </p:sp>
      <p:sp>
        <p:nvSpPr>
          <p:cNvPr id="189" name="TextBox 189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The SSD is built in, so drive retention is not possible; FileVault and a remote wipe before repair protect data.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itle 190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Lifecycle and commercial model</a:t>
            </a:r>
          </a:p>
        </p:txBody>
      </p:sp>
      <p:sp>
        <p:nvSpPr>
          <p:cNvPr id="191" name="Subtitle 191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36-month refresh with an optional fourth year</a:t>
            </a:r>
          </a:p>
        </p:txBody>
      </p:sp>
      <p:pic>
        <p:nvPicPr>
          <p:cNvPr id="192" name="Logo 192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93" name="Shape 193"/>
          <p:cNvSpPr/>
          <p:nvPr/>
        </p:nvSpPr>
        <p:spPr>
          <a:xfrm>
            <a:off x="1984248" y="2542032"/>
            <a:ext cx="8211312" cy="36576"/>
          </a:xfrm>
          <a:prstGeom prst="rect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4" name="Shape 194"/>
          <p:cNvSpPr/>
          <p:nvPr/>
        </p:nvSpPr>
        <p:spPr>
          <a:xfrm>
            <a:off x="1828800" y="2404872"/>
            <a:ext cx="310896" cy="310896"/>
          </a:xfrm>
          <a:prstGeom prst="ellipse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5" name="TextBox 195"/>
          <p:cNvSpPr txBox="1"/>
          <p:nvPr/>
        </p:nvSpPr>
        <p:spPr>
          <a:xfrm>
            <a:off x="795528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0</a:t>
            </a:r>
          </a:p>
        </p:txBody>
      </p:sp>
      <p:sp>
        <p:nvSpPr>
          <p:cNvPr id="196" name="TextBox 196"/>
          <p:cNvSpPr txBox="1"/>
          <p:nvPr/>
        </p:nvSpPr>
        <p:spPr>
          <a:xfrm>
            <a:off x="795528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Deploy and buy back</a:t>
            </a:r>
          </a:p>
        </p:txBody>
      </p:sp>
      <p:sp>
        <p:nvSpPr>
          <p:cNvPr id="197" name="Shape 197"/>
          <p:cNvSpPr/>
          <p:nvPr/>
        </p:nvSpPr>
        <p:spPr>
          <a:xfrm>
            <a:off x="5934456" y="2404872"/>
            <a:ext cx="310896" cy="310896"/>
          </a:xfrm>
          <a:prstGeom prst="ellipse">
            <a:avLst/>
          </a:prstGeom>
          <a:solidFill>
            <a:srgbClr val="122B40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8" name="TextBox 198"/>
          <p:cNvSpPr txBox="1"/>
          <p:nvPr/>
        </p:nvSpPr>
        <p:spPr>
          <a:xfrm>
            <a:off x="4901184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36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4901184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Refresh decision</a:t>
            </a:r>
          </a:p>
        </p:txBody>
      </p:sp>
      <p:sp>
        <p:nvSpPr>
          <p:cNvPr id="200" name="Shape 200"/>
          <p:cNvSpPr/>
          <p:nvPr/>
        </p:nvSpPr>
        <p:spPr>
          <a:xfrm>
            <a:off x="10040112" y="2404872"/>
            <a:ext cx="310896" cy="310896"/>
          </a:xfrm>
          <a:prstGeom prst="ellipse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201" name="TextBox 201"/>
          <p:cNvSpPr txBox="1"/>
          <p:nvPr/>
        </p:nvSpPr>
        <p:spPr>
          <a:xfrm>
            <a:off x="9006840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48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9006840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Nominal buyout</a:t>
            </a:r>
          </a:p>
        </p:txBody>
      </p:sp>
      <p:sp>
        <p:nvSpPr>
          <p:cNvPr id="203" name="Shape 203"/>
          <p:cNvSpPr/>
          <p:nvPr/>
        </p:nvSpPr>
        <p:spPr>
          <a:xfrm>
            <a:off x="795528" y="34290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Option A: return and refresh</a:t>
            </a:r>
          </a:p>
        </p:txBody>
      </p:sp>
      <p:sp>
        <p:nvSpPr>
          <p:cNvPr id="204" name="Shape 204"/>
          <p:cNvSpPr/>
          <p:nvPr/>
        </p:nvSpPr>
        <p:spPr>
          <a:xfrm>
            <a:off x="795528" y="3849624"/>
            <a:ext cx="5157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Nuevo collects and wipes the old Mac, with a certificate, and delivers a new one at month 36.</a:t>
            </a:r>
          </a:p>
        </p:txBody>
      </p:sp>
      <p:sp>
        <p:nvSpPr>
          <p:cNvPr id="205" name="Shape 205"/>
          <p:cNvSpPr/>
          <p:nvPr/>
        </p:nvSpPr>
        <p:spPr>
          <a:xfrm>
            <a:off x="6227064" y="34290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Option B: extend, then keep</a:t>
            </a:r>
          </a:p>
        </p:txBody>
      </p:sp>
      <p:sp>
        <p:nvSpPr>
          <p:cNvPr id="206" name="Shape 206"/>
          <p:cNvSpPr/>
          <p:nvPr/>
        </p:nvSpPr>
        <p:spPr>
          <a:xfrm>
            <a:off x="6227064" y="3849624"/>
            <a:ext cx="5157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12 more months at a reduced rate, then a nominal buyout so the device can pass to the employee.</a:t>
            </a:r>
          </a:p>
        </p:txBody>
      </p:sp>
      <p:sp>
        <p:nvSpPr>
          <p:cNvPr id="207" name="Shape 207"/>
          <p:cNvSpPr/>
          <p:nvPr/>
        </p:nvSpPr>
        <p:spPr>
          <a:xfrm>
            <a:off x="795528" y="5074920"/>
            <a:ext cx="10588752" cy="548640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Can Nuevo quote two prices per seat (return at 36, buyout at 48), using Mac resale value to lower the rate?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Services around the device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Tracking, disposal, training and special cases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Asset management and tracking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Business Manager plus Intune or Jamf for device, warranty and compliance data; MDM inventory can feed Ivanti.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Buyback and secure disposal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Nuevo trade-in and ITAD for the current Lenovo fleet, with a wipe certificate per device (NIST 800-88) kept as NCA evidence.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IT staff training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Device Support and Deployment certifications for ITEUS, Independent Repair Provider status, and annual training credits.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Accessibility and specialist equipment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Built-in accessibility on every Mac and iPad (VoiceOver, Voice Control, Zoom), plus PWD kit on demand under the same billing.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Gaps to plan for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Where a Mac fleet needs a plan, compared with today’s Windows fleet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Windows-only apps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Platform choice stays (Policy 5.1): users who need Windows apps keep the B.1 tier, or use Windows 365.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Docks and peripherals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makes no docks or monitors; Appendix B.2 already pairs Macs with Lenovo ThinkVision, the Lenovo USB-C dock and Belkin.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Drive retention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Mac SSDs are built in, so a failed drive cannot be kept; FileVault encryption and a remote wipe before repair cover it.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2-in-1 users and buyback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No touchscreen Mac: Director to VP users who need touch take B.1 or an iPad under B.4. Lenovo buyback runs via Nuevo.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2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Questions for Nuevo</a:t>
            </a:r>
          </a:p>
        </p:txBody>
      </p:sp>
      <p:sp>
        <p:nvSpPr>
          <p:cNvPr id="220" name="Subtitle 2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we need confirmed, and what happens next</a:t>
            </a:r>
          </a:p>
        </p:txBody>
      </p:sp>
      <p:pic>
        <p:nvPicPr>
          <p:cNvPr id="221" name="Logo 22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22" name="Shape 222"/>
          <p:cNvSpPr/>
          <p:nvPr/>
        </p:nvSpPr>
        <p:spPr>
          <a:xfrm>
            <a:off x="795528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DD3068"/>
                </a:solidFill>
                <a:latin typeface="Arial"/>
                <a:cs typeface="Arial"/>
              </a:rPr>
              <a:t>To confirm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Contract holder: Nuevo KSA, and who carries the lease?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Minimum seats, and flex up or down mid-term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Onsite response times in Riyadh, Jeddah, Dammam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Coverage in our international station countries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Lost or stolen devices, and early exit terms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Month-48 buyout written into the master agreement</a:t>
            </a:r>
          </a:p>
        </p:txBody>
      </p:sp>
      <p:sp>
        <p:nvSpPr>
          <p:cNvPr id="223" name="Shape 223"/>
          <p:cNvSpPr/>
          <p:nvPr/>
        </p:nvSpPr>
        <p:spPr>
          <a:xfrm>
            <a:off x="6227064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BBB4"/>
                </a:solidFill>
                <a:latin typeface="Arial"/>
                <a:cs typeface="Arial"/>
              </a:rPr>
              <a:t>Next steps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flynas shares fleet inventory for buyback valuation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Nuevo quotes M5 and M5 Pro tiers per seat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Pilot Macs for ITEUS app compatibility testing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Commercial proposal to Finance and Procurement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Price locked for the full term, including added seats</a:t>
            </a:r>
          </a:p>
        </p:txBody>
      </p:sp>
      <p:sp>
        <p:nvSpPr>
          <p:cNvPr id="224" name="Shape 224"/>
          <p:cNvSpPr/>
          <p:nvPr/>
        </p:nvSpPr>
        <p:spPr>
          <a:xfrm>
            <a:off x="795528" y="4919472"/>
            <a:ext cx="10588752" cy="603504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Goal: one per-seat price covering device, desk kit, support, lifecycle and disposal.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70C6-7646-E146-B688-1E3CE51B71A4}"/>
              </a:ext>
            </a:extLst>
          </p:cNvPr>
          <p:cNvSpPr txBox="1"/>
          <p:nvPr/>
        </p:nvSpPr>
        <p:spPr>
          <a:xfrm>
            <a:off x="6435766" y="2967335"/>
            <a:ext cx="4014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Gotham Rounded Bold" pitchFamily="2" charset="0"/>
              </a:rPr>
              <a:t>Thank You</a:t>
            </a:r>
          </a:p>
        </p:txBody>
      </p:sp>
      <p:pic>
        <p:nvPicPr>
          <p:cNvPr id="230" name="Logo 23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332720" y="411480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124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ynas Presentation Template-2" id="{775F9B4F-E3C6-6744-A073-627919DDBF89}" vid="{10FAC79C-4966-084D-A2F5-B9CD4A099D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cec92f6-5859-4f6a-b76e-9f14529924a2}" enabled="0" method="" siteId="{1cec92f6-5859-4f6a-b76e-9f14529924a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24318</TotalTime>
  <Words>5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Calibri Light</vt:lpstr>
      <vt:lpstr>Flynas</vt:lpstr>
      <vt:lpstr>Flynas Bold</vt:lpstr>
      <vt:lpstr>Flynas Normal</vt:lpstr>
      <vt:lpstr>Gotham Rounded Bold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Omar Othman</cp:lastModifiedBy>
  <cp:revision>249</cp:revision>
  <cp:lastPrinted>2022-10-02T09:18:39Z</cp:lastPrinted>
  <dcterms:created xsi:type="dcterms:W3CDTF">2020-02-16T07:51:25Z</dcterms:created>
  <dcterms:modified xsi:type="dcterms:W3CDTF">2026-04-22T06:47:53Z</dcterms:modified>
</cp:coreProperties>
</file>