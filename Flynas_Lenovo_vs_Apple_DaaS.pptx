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305" r:id="rId13"/>
    <p:sldId id="314" r:id="rId22"/>
    <p:sldId id="306" r:id="rId14"/>
    <p:sldId id="315" r:id="rId23"/>
    <p:sldId id="313" r:id="rId21"/>
    <p:sldId id="311" r:id="rId19"/>
    <p:sldId id="270" r:id="rId4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9F01F09-2976-C381-D7C4-A37BF3816481}" name="Nader Alotaibi" initials="NA" userId="S::N.AlOtaibi@flynas.com::6e2f472c-ef1d-4a4f-9518-c5d03b03858b" providerId="AD"/>
  <p188:author id="{AE56501E-FAED-7A04-7521-AB8CB00F3FD2}" name="Lamia Alammari" initials="LA" userId="S::Lalammari@flynas.com::79da9f8b-e423-4268-aaa7-be6109cd30d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6B0C"/>
    <a:srgbClr val="00BBB4"/>
    <a:srgbClr val="90D0C2"/>
    <a:srgbClr val="BAD030"/>
    <a:srgbClr val="AC1850"/>
    <a:srgbClr val="C81C5E"/>
    <a:srgbClr val="F58630"/>
    <a:srgbClr val="767171"/>
    <a:srgbClr val="94A626"/>
    <a:srgbClr val="00A8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2" autoAdjust="0"/>
    <p:restoredTop sz="94632"/>
  </p:normalViewPr>
  <p:slideViewPr>
    <p:cSldViewPr snapToGrid="0" snapToObjects="1">
      <p:cViewPr varScale="1">
        <p:scale>
          <a:sx n="111" d="100"/>
          <a:sy n="111" d="100"/>
        </p:scale>
        <p:origin x="64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-1668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8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6/11/relationships/changesInfo" Target="changesInfos/changesInfo1.xml"/><Relationship Id="rId11" Type="http://schemas.microsoft.com/office/2018/10/relationships/authors" Target="authors.xml"/><Relationship Id="rId13" Type="http://schemas.openxmlformats.org/officeDocument/2006/relationships/slide" Target="slides/slide2.xml"/><Relationship Id="rId14" Type="http://schemas.openxmlformats.org/officeDocument/2006/relationships/slide" Target="slides/slide4.xml"/><Relationship Id="rId19" Type="http://schemas.openxmlformats.org/officeDocument/2006/relationships/slide" Target="slides/slide7.xml"/><Relationship Id="rId21" Type="http://schemas.openxmlformats.org/officeDocument/2006/relationships/slide" Target="slides/slide6.xml"/><Relationship Id="rId22" Type="http://schemas.openxmlformats.org/officeDocument/2006/relationships/slide" Target="slides/slide3.xml"/><Relationship Id="rId23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ar Othman" userId="8140244e-c282-4e86-9d45-59369a3bb7be" providerId="ADAL" clId="{35C72BF1-2A2E-4B51-B1BD-059D3FFDFB23}"/>
    <pc:docChg chg="custSel delSld modSld">
      <pc:chgData name="Omar Othman" userId="8140244e-c282-4e86-9d45-59369a3bb7be" providerId="ADAL" clId="{35C72BF1-2A2E-4B51-B1BD-059D3FFDFB23}" dt="2026-04-22T06:47:49.684" v="17" actId="2696"/>
      <pc:docMkLst>
        <pc:docMk/>
      </pc:docMkLst>
      <pc:sldChg chg="modSp mod">
        <pc:chgData name="Omar Othman" userId="8140244e-c282-4e86-9d45-59369a3bb7be" providerId="ADAL" clId="{35C72BF1-2A2E-4B51-B1BD-059D3FFDFB23}" dt="2026-04-22T06:47:27.833" v="6" actId="20577"/>
        <pc:sldMkLst>
          <pc:docMk/>
          <pc:sldMk cId="1844162893" sldId="257"/>
        </pc:sldMkLst>
        <pc:spChg chg="mod">
          <ac:chgData name="Omar Othman" userId="8140244e-c282-4e86-9d45-59369a3bb7be" providerId="ADAL" clId="{35C72BF1-2A2E-4B51-B1BD-059D3FFDFB23}" dt="2026-04-22T06:47:27.833" v="6" actId="20577"/>
          <ac:spMkLst>
            <pc:docMk/>
            <pc:sldMk cId="1844162893" sldId="257"/>
            <ac:spMk id="2" creationId="{3D428D5C-2A25-F348-BB7E-7806076748D0}"/>
          </ac:spMkLst>
        </pc:spChg>
      </pc:sldChg>
      <pc:sldChg chg="del">
        <pc:chgData name="Omar Othman" userId="8140244e-c282-4e86-9d45-59369a3bb7be" providerId="ADAL" clId="{35C72BF1-2A2E-4B51-B1BD-059D3FFDFB23}" dt="2026-04-22T06:47:49.684" v="17" actId="2696"/>
        <pc:sldMkLst>
          <pc:docMk/>
          <pc:sldMk cId="1697162954" sldId="299"/>
        </pc:sldMkLst>
      </pc:sldChg>
      <pc:sldChg chg="delSp modSp mod">
        <pc:chgData name="Omar Othman" userId="8140244e-c282-4e86-9d45-59369a3bb7be" providerId="ADAL" clId="{35C72BF1-2A2E-4B51-B1BD-059D3FFDFB23}" dt="2026-04-22T06:47:39.862" v="16" actId="478"/>
        <pc:sldMkLst>
          <pc:docMk/>
          <pc:sldMk cId="3921271985" sldId="303"/>
        </pc:sldMkLst>
        <pc:spChg chg="mod">
          <ac:chgData name="Omar Othman" userId="8140244e-c282-4e86-9d45-59369a3bb7be" providerId="ADAL" clId="{35C72BF1-2A2E-4B51-B1BD-059D3FFDFB23}" dt="2026-04-22T06:47:36.637" v="14" actId="20577"/>
          <ac:spMkLst>
            <pc:docMk/>
            <pc:sldMk cId="3921271985" sldId="303"/>
            <ac:spMk id="2" creationId="{1066CBA5-F8FF-2B4F-890E-E3CE368AAA22}"/>
          </ac:spMkLst>
        </pc:spChg>
        <pc:spChg chg="mod">
          <ac:chgData name="Omar Othman" userId="8140244e-c282-4e86-9d45-59369a3bb7be" providerId="ADAL" clId="{35C72BF1-2A2E-4B51-B1BD-059D3FFDFB23}" dt="2026-04-22T06:47:33.802" v="10" actId="20577"/>
          <ac:spMkLst>
            <pc:docMk/>
            <pc:sldMk cId="3921271985" sldId="303"/>
            <ac:spMk id="3" creationId="{5F9D21DF-9615-2046-8CC5-9E7B4CB97B31}"/>
          </ac:spMkLst>
        </pc:spChg>
        <pc:spChg chg="del">
          <ac:chgData name="Omar Othman" userId="8140244e-c282-4e86-9d45-59369a3bb7be" providerId="ADAL" clId="{35C72BF1-2A2E-4B51-B1BD-059D3FFDFB23}" dt="2026-04-22T06:47:38.845" v="15" actId="478"/>
          <ac:spMkLst>
            <pc:docMk/>
            <pc:sldMk cId="3921271985" sldId="303"/>
            <ac:spMk id="4" creationId="{A1E7A5CC-75B9-3DD9-D86D-296AE83EAAC5}"/>
          </ac:spMkLst>
        </pc:spChg>
        <pc:spChg chg="del">
          <ac:chgData name="Omar Othman" userId="8140244e-c282-4e86-9d45-59369a3bb7be" providerId="ADAL" clId="{35C72BF1-2A2E-4B51-B1BD-059D3FFDFB23}" dt="2026-04-22T06:47:39.862" v="16" actId="478"/>
          <ac:spMkLst>
            <pc:docMk/>
            <pc:sldMk cId="3921271985" sldId="303"/>
            <ac:spMk id="6" creationId="{9E68A203-8D26-75DD-9F85-E276E55810F7}"/>
          </ac:spMkLst>
        </pc:spChg>
      </pc:sldChg>
      <pc:sldChg chg="del">
        <pc:chgData name="Omar Othman" userId="8140244e-c282-4e86-9d45-59369a3bb7be" providerId="ADAL" clId="{35C72BF1-2A2E-4B51-B1BD-059D3FFDFB23}" dt="2026-04-22T06:47:49.684" v="17" actId="2696"/>
        <pc:sldMkLst>
          <pc:docMk/>
          <pc:sldMk cId="3411633887" sldId="309"/>
        </pc:sldMkLst>
      </pc:sldChg>
      <pc:sldChg chg="del">
        <pc:chgData name="Omar Othman" userId="8140244e-c282-4e86-9d45-59369a3bb7be" providerId="ADAL" clId="{35C72BF1-2A2E-4B51-B1BD-059D3FFDFB23}" dt="2026-04-22T06:47:49.684" v="17" actId="2696"/>
        <pc:sldMkLst>
          <pc:docMk/>
          <pc:sldMk cId="2661652453" sldId="310"/>
        </pc:sldMkLst>
      </pc:sldChg>
      <pc:sldChg chg="del">
        <pc:chgData name="Omar Othman" userId="8140244e-c282-4e86-9d45-59369a3bb7be" providerId="ADAL" clId="{35C72BF1-2A2E-4B51-B1BD-059D3FFDFB23}" dt="2026-04-22T06:47:49.684" v="17" actId="2696"/>
        <pc:sldMkLst>
          <pc:docMk/>
          <pc:sldMk cId="501542376" sldId="311"/>
        </pc:sldMkLst>
      </pc:sldChg>
      <pc:sldChg chg="del">
        <pc:chgData name="Omar Othman" userId="8140244e-c282-4e86-9d45-59369a3bb7be" providerId="ADAL" clId="{35C72BF1-2A2E-4B51-B1BD-059D3FFDFB23}" dt="2026-04-22T06:47:49.684" v="17" actId="2696"/>
        <pc:sldMkLst>
          <pc:docMk/>
          <pc:sldMk cId="696864810" sldId="315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1C28AB-ADCE-4C0F-BF9B-E5220289AE2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AF82A-5C3E-4C4F-8BBD-816C5DF6A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418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85897-B230-C447-BDED-17ACB2C22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A8B67D-3A8E-B047-9D26-EC74E6E6B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3B4B7-E0CB-A144-9925-230537970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0702-4682-7A4D-BDC7-0E211046255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95C53-93AF-6F48-89DB-10E4BEF5E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1B725-91E6-F949-B5F8-215FAA5A3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58F7E-8E6E-4443-9EF6-A028AF676A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05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E8929-5509-A746-89DC-5253DD1DA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1412D-35EF-8F4E-8FA0-541247219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D6582-4130-7C47-89D1-133980EDA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0702-4682-7A4D-BDC7-0E211046255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3F129-ABF7-894D-80A0-DE6C18F90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8929C-FBE0-2C4B-B296-A73FF5ED0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58F7E-8E6E-4443-9EF6-A028AF676A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994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7FF83-4AEC-0449-967F-12F6E1923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F068F-A69B-C544-98C5-DB53A3644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31907-AE17-9643-B70D-8357F8A9C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0702-4682-7A4D-BDC7-0E211046255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8FAF6-9951-9B45-AC65-E4FCCEA77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F4513-55B7-EA4B-869F-153580349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58F7E-8E6E-4443-9EF6-A028AF676A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59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2EE7C-C03A-BC42-BF8C-19A9D30E3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6A40A-95BB-9B47-8277-AE3118A2E0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F2CCEF-C637-BB4A-A630-D04D266926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EC1EB-4026-EA49-987E-B8EFB826C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0702-4682-7A4D-BDC7-0E211046255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4EF355-D084-6A45-8E46-6E56DBB03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53431-F115-5347-A876-E53566407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58F7E-8E6E-4443-9EF6-A028AF676A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916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F7F91-7080-6C4F-B6B1-ED4E8B518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945359-B53D-3F4F-920F-B836B538C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129C89-1D6C-7C4B-9B88-5181E646C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7D3978-7786-604A-AA31-01BF33473B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9ADF9E-943A-B54C-9C57-5F0A6A4ED3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536FCD-DD10-3C48-98CA-628180D9B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0702-4682-7A4D-BDC7-0E211046255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FBD687-3818-0C42-8C55-8A4C55E13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FD2168-AE22-704B-BB2A-1F77F5756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58F7E-8E6E-4443-9EF6-A028AF676A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02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F6200-801B-5E45-937B-4A1D3A2C1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27BC0E-1576-5948-B585-920E2269A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0702-4682-7A4D-BDC7-0E211046255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8F6294-D10F-AF46-BC7F-EBA9D49EF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7D959-D3CC-C547-871F-3C8FF0856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58F7E-8E6E-4443-9EF6-A028AF676A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254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3FA556-BCAF-2447-9538-3A03CFB44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0702-4682-7A4D-BDC7-0E211046255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E21290-9872-3C41-B540-26E66A57C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EA450-CFB3-4D4C-9A90-E271E3FF2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58F7E-8E6E-4443-9EF6-A028AF676A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750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5BF37-C94D-0C44-91F4-CDC21F76D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4A05A-5889-A448-824B-EE8F0D379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25111F-9633-1448-8508-51892BFAE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36CF5-9655-4F45-B7BE-FBF6714B2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0702-4682-7A4D-BDC7-0E211046255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773CC6-A3BE-684A-87CC-B26049054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2284A3-65AF-C749-8E78-13133B130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58F7E-8E6E-4443-9EF6-A028AF676A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93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E8AA6-2F8A-E141-A29C-433CE25C9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7A9F20-2A0D-6B4C-84C9-BDC70E7AFA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37344-07BA-EF49-A9D5-516672003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BF119-5EBA-9A4A-A803-5ABF017C7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0702-4682-7A4D-BDC7-0E211046255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79E1BB-14A9-7341-BCD6-FCDD2666A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E70E1D-C8C2-214F-95A1-7C2474AA9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58F7E-8E6E-4443-9EF6-A028AF676A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835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3ABA6-6448-D144-862D-6E0191619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3029AC-EF5F-0C4F-9239-C24B570E7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B006E-81E7-1745-94C8-828429133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0702-4682-7A4D-BDC7-0E211046255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2BB5D-7CE4-774F-ACFC-982A63368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AFBCF-DC6B-E945-9F07-865B18426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58F7E-8E6E-4443-9EF6-A028AF676A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660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2DA7AA-5779-D84C-ACD6-BDC1EA81E9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5CD905-3966-3640-806E-250DD43AE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52006-39FB-0E4E-82E3-6453978F4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0702-4682-7A4D-BDC7-0E211046255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C8812-C6A1-3C49-82E3-D8E703B7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CE491-5C33-0043-AFED-3CFB06746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58F7E-8E6E-4443-9EF6-A028AF676A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136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75BC2C-487D-5443-81D4-9DE1F7313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ADA8F-0153-014B-BDE7-7BFE6CB71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B046F-7BD8-464F-ADAB-895BBD6FF8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E0702-4682-7A4D-BDC7-0E211046255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4E0F6-6C9C-D34E-8EEF-1007E71DEB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CBB36-42E9-8149-A82C-2F2744E449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58F7E-8E6E-4443-9EF6-A028AF676A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233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Logo" Type="http://schemas.openxmlformats.org/officeDocument/2006/relationships/image" Target="../media/vendor_white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Logo" Type="http://schemas.openxmlformats.org/officeDocument/2006/relationships/image" Target="../media/vendor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Logo" Type="http://schemas.openxmlformats.org/officeDocument/2006/relationships/image" Target="../media/vendor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Logo" Type="http://schemas.openxmlformats.org/officeDocument/2006/relationships/image" Target="../media/vendor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Logo" Type="http://schemas.openxmlformats.org/officeDocument/2006/relationships/image" Target="../media/vendor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Logo" Type="http://schemas.openxmlformats.org/officeDocument/2006/relationships/image" Target="../media/vendor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Logo" Type="http://schemas.openxmlformats.org/officeDocument/2006/relationships/image" Target="../media/vendor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Logo" Type="http://schemas.openxmlformats.org/officeDocument/2006/relationships/image" Target="../media/vendor_white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Box 225"/>
          <p:cNvSpPr txBox="1"/>
          <p:nvPr/>
        </p:nvSpPr>
        <p:spPr>
          <a:xfrm>
            <a:off x="6812280" y="731520"/>
            <a:ext cx="51206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Flynas Bold"/>
                <a:cs typeface="Flynas Bold"/>
              </a:rPr>
              <a:t>Device as a Service</a:t>
            </a:r>
          </a:p>
        </p:txBody>
      </p:sp>
      <p:sp>
        <p:nvSpPr>
          <p:cNvPr id="226" name="TextBox 226"/>
          <p:cNvSpPr txBox="1"/>
          <p:nvPr/>
        </p:nvSpPr>
        <p:spPr>
          <a:xfrm>
            <a:off x="6839712" y="1572768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700" b="0" dirty="0">
                <a:solidFill>
                  <a:srgbClr val="FFFFFF"/>
                </a:solidFill>
                <a:latin typeface="Arial"/>
                <a:cs typeface="Arial"/>
              </a:rPr>
              <a:t>Lenovo vs Apple: side by side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700" b="0" dirty="0">
                <a:solidFill>
                  <a:srgbClr val="FFFFFF"/>
                </a:solidFill>
                <a:latin typeface="Arial"/>
                <a:cs typeface="Arial"/>
              </a:rPr>
              <a:t>flynas options for the new HQ endpoint service</a:t>
            </a:r>
          </a:p>
        </p:txBody>
      </p:sp>
      <p:sp>
        <p:nvSpPr>
          <p:cNvPr id="227" name="TextBox 227"/>
          <p:cNvSpPr txBox="1"/>
          <p:nvPr/>
        </p:nvSpPr>
        <p:spPr>
          <a:xfrm>
            <a:off x="6839712" y="2487168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100" b="0" dirty="0">
                <a:solidFill>
                  <a:srgbClr val="FFFFFF"/>
                </a:solidFill>
                <a:latin typeface="Arial"/>
                <a:cs typeface="Arial"/>
              </a:rPr>
              <a:t>ITEUS · October 2026</a:t>
            </a:r>
          </a:p>
        </p:txBody>
      </p:sp>
      <p:sp>
        <p:nvSpPr>
          <p:cNvPr id="228" name="TextBox 228"/>
          <p:cNvSpPr txBox="1"/>
          <p:nvPr/>
        </p:nvSpPr>
        <p:spPr>
          <a:xfrm>
            <a:off x="8577072" y="3127248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rIns="0" tIns="0" bIns="0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1300" b="0" dirty="0">
                <a:solidFill>
                  <a:srgbClr val="FFFFFF"/>
                </a:solidFill>
                <a:latin typeface="Arial"/>
                <a:cs typeface="Arial"/>
              </a:rPr>
              <a:t>vs</a:t>
            </a:r>
          </a:p>
        </p:txBody>
      </p:sp>
      <p:pic>
        <p:nvPicPr>
          <p:cNvPr id="229" name="Logo 229" descr="Apple logo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9079992" y="2926080"/>
            <a:ext cx="777240" cy="777240"/>
          </a:xfrm>
          <a:prstGeom prst="rect">
            <a:avLst/>
          </a:prstGeom>
        </p:spPr>
      </p:pic>
      <p:pic>
        <p:nvPicPr>
          <p:cNvPr id="230" name="Logo Lenovo" descr="Lenovo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12" y="3218688"/>
            <a:ext cx="1600200" cy="330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162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itle 139"/>
          <p:cNvSpPr txBox="1"/>
          <p:nvPr/>
        </p:nvSpPr>
        <p:spPr>
          <a:xfrm>
            <a:off x="411480" y="448056"/>
            <a:ext cx="950976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800" b="1" dirty="0">
                <a:solidFill>
                  <a:srgbClr val="767171"/>
                </a:solidFill>
                <a:latin typeface="Flynas Normal" pitchFamily="2" charset="-78"/>
                <a:cs typeface="Flynas Normal" pitchFamily="2" charset="-78"/>
              </a:rPr>
              <a:t>Lenovo vs Apple at a glance</a:t>
            </a:r>
          </a:p>
        </p:txBody>
      </p:sp>
      <p:sp>
        <p:nvSpPr>
          <p:cNvPr id="140" name="Subtitle 140"/>
          <p:cNvSpPr txBox="1"/>
          <p:nvPr/>
        </p:nvSpPr>
        <p:spPr>
          <a:xfrm>
            <a:off x="795528" y="1097280"/>
            <a:ext cx="932688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000" dirty="0">
                <a:solidFill>
                  <a:srgbClr val="00BBB4"/>
                </a:solidFill>
                <a:latin typeface="Flynas" pitchFamily="50" charset="-78"/>
                <a:cs typeface="Flynas" pitchFamily="50" charset="-78"/>
              </a:rPr>
              <a:t>Both offer the same service model; the difference is the platform</a:t>
            </a:r>
          </a:p>
        </p:txBody>
      </p:sp>
      <p:graphicFrame>
        <p:nvGraphicFramePr>
          <p:cNvPr id="138" name="Device table"/>
          <p:cNvGraphicFramePr>
            <a:graphicFrameLocks noGrp="1"/>
          </p:cNvGraphicFramePr>
          <p:nvPr/>
        </p:nvGraphicFramePr>
        <p:xfrm>
          <a:off x="795528" y="1719072"/>
          <a:ext cx="10588752" cy="301752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4261104"/>
                <a:gridCol w="4270248"/>
              </a:tblGrid>
              <a:tr h="30175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Area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Lenovo (ThinkPad, Windows)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Apple (Mac, via KSA partner)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122B4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Platform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Windows 11 Pro on Intel or AMD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macOS on Apple M5 or M5 Pro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Contract holder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Lenovo KSA under TruScale DaaS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Apple Authorised Enterprise Reseller (TBC)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Change for users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None: same OS, apps and device families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New OS; Windows-only apps need B.1 or Windows 365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Memory as quoted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32GB on every laptop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24GB on every Mac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Desk kit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Thunderbolt dock and two monitors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Belkin adapter, one 27" monitor; dock Director up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Touch / 2-in-1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ThinkPad X1 2-in-1 Gen 11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No touch Mac: B.1 tier or an iPad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Failed drive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Keep Your Drive: drive stays with flynas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Built-in SSD: FileVault and remote wipe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Fleet buyback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Lenovo Asset Recovery Services, direct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Partner trade-in and ITAD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Operations tablets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Not offered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iPads for flight deck, cabin, engineering, stations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2" name="Shape 142"/>
          <p:cNvSpPr/>
          <p:nvPr/>
        </p:nvSpPr>
        <p:spPr>
          <a:xfrm>
            <a:off x="795528" y="4873752"/>
            <a:ext cx="10588752" cy="566928"/>
          </a:xfrm>
          <a:prstGeom prst="roundRect">
            <a:avLst>
              <a:gd name="adj" fmla="val 16000"/>
            </a:avLst>
          </a:prstGeom>
          <a:solidFill>
            <a:srgbClr val="E5F8F7"/>
          </a:solidFill>
          <a:ln>
            <a:noFill/>
          </a:ln>
        </p:spPr>
        <p:txBody>
          <a:bodyPr wrap="square" rtlCol="0" anchor="ctr" lIns="182880" rIns="182880" tIns="45720" bIns="4572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B40"/>
                </a:solidFill>
                <a:latin typeface="Arial"/>
                <a:cs typeface="Arial"/>
              </a:rPr>
              <a:t>Lenovo is the low-change option; Apple adds iPads and 24GB on every Mac, but needs app testing.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795528" y="5504688"/>
            <a:ext cx="10588752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050" b="0" i="1" dirty="0">
                <a:solidFill>
                  <a:srgbClr val="767171"/>
                </a:solidFill>
                <a:latin typeface="Arial"/>
                <a:cs typeface="Arial"/>
              </a:rPr>
              <a:t>As written in each discussion deck. Lenovo is quoted at 32GB and two monitors, Apple at 24GB and one, so align specs before comparing price.</a:t>
            </a:r>
          </a:p>
        </p:txBody>
      </p:sp>
    </p:spTree>
    <p:extLst>
      <p:ext uri="{BB962C8B-B14F-4D97-AF65-F5344CB8AC3E}">
        <p14:creationId xmlns:p14="http://schemas.microsoft.com/office/powerpoint/2010/main" val="3921271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itle 139"/>
          <p:cNvSpPr txBox="1"/>
          <p:nvPr/>
        </p:nvSpPr>
        <p:spPr>
          <a:xfrm>
            <a:off x="411480" y="448056"/>
            <a:ext cx="950976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800" b="1" dirty="0">
                <a:solidFill>
                  <a:srgbClr val="767171"/>
                </a:solidFill>
                <a:latin typeface="Flynas Normal" pitchFamily="2" charset="-78"/>
                <a:cs typeface="Flynas Normal" pitchFamily="2" charset="-78"/>
              </a:rPr>
              <a:t>Device lineup by policy tier</a:t>
            </a:r>
          </a:p>
        </p:txBody>
      </p:sp>
      <p:sp>
        <p:nvSpPr>
          <p:cNvPr id="140" name="Subtitle 140"/>
          <p:cNvSpPr txBox="1"/>
          <p:nvPr/>
        </p:nvSpPr>
        <p:spPr>
          <a:xfrm>
            <a:off x="795528" y="1097280"/>
            <a:ext cx="932688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000" dirty="0">
                <a:solidFill>
                  <a:srgbClr val="00BBB4"/>
                </a:solidFill>
                <a:latin typeface="Flynas" pitchFamily="50" charset="-78"/>
                <a:cs typeface="Flynas" pitchFamily="50" charset="-78"/>
              </a:rPr>
              <a:t>Today’s fleet against each vendor’s 2026 proposal</a:t>
            </a:r>
          </a:p>
        </p:txBody>
      </p:sp>
      <p:graphicFrame>
        <p:nvGraphicFramePr>
          <p:cNvPr id="138" name="Device table"/>
          <p:cNvGraphicFramePr>
            <a:graphicFrameLocks noGrp="1"/>
          </p:cNvGraphicFramePr>
          <p:nvPr/>
        </p:nvGraphicFramePr>
        <p:xfrm>
          <a:off x="795528" y="1719072"/>
          <a:ext cx="10588751" cy="2779776"/>
        </p:xfrm>
        <a:graphic>
          <a:graphicData uri="http://schemas.openxmlformats.org/drawingml/2006/table">
            <a:tbl>
              <a:tblPr firstRow="1" bandRow="1"/>
              <a:tblGrid>
                <a:gridCol w="2011680"/>
                <a:gridCol w="1828800"/>
                <a:gridCol w="2148840"/>
                <a:gridCol w="2514600"/>
                <a:gridCol w="2084831"/>
              </a:tblGrid>
              <a:tr h="34747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Policy tier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Today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Lenovo 2026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Apple 2026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Memory: Lenovo / Apple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122B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Officer to Sr Mgr, 13-14"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ThinkPad E14 / L14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ThinkPad L14 (2026)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MacBook Air 13", M5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32GB / 24GB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Officer to Sr Mgr, 15-16"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ThinkPad E16 / L16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ThinkPad L16 (2026)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MacBook Air 15", M5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32GB / 24GB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Director to VP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ThinkPad X1 Carbon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X1 Carbon Gen 14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MacBook Pro 14", M5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32GB / 24GB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Touch / 2-in-1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ThinkPad X1 Yoga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X1 2-in-1 Gen 11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No Mac: B.1 tier or iPad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32GB / n/a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C-Level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Per IT assessment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Not a separate tier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MacBook Pro 14"/16", M5 Pro or Max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Per IT assessment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Desktop / shared desk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ThinkCentre Neo 50 AIO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ThinkCentre Neo AIO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iMac 24", M4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TBC / 24GB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Specialists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Custom / workstation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ThinkStation P-series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Mac Studio / MacBook Pro 16"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Per requirement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2" name="Shape 142"/>
          <p:cNvSpPr/>
          <p:nvPr/>
        </p:nvSpPr>
        <p:spPr>
          <a:xfrm>
            <a:off x="795528" y="4873752"/>
            <a:ext cx="10588752" cy="566928"/>
          </a:xfrm>
          <a:prstGeom prst="roundRect">
            <a:avLst>
              <a:gd name="adj" fmla="val 16000"/>
            </a:avLst>
          </a:prstGeom>
          <a:solidFill>
            <a:srgbClr val="E5F8F7"/>
          </a:solidFill>
          <a:ln>
            <a:noFill/>
          </a:ln>
        </p:spPr>
        <p:txBody>
          <a:bodyPr wrap="square" rtlCol="0" anchor="ctr" lIns="182880" rIns="182880" tIns="45720" bIns="4572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B40"/>
                </a:solidFill>
                <a:latin typeface="Arial"/>
                <a:cs typeface="Arial"/>
              </a:rPr>
              <a:t>All laptops 1TB SSD. Lenovo is quoted at 32GB for everyone; Apple at 24GB for everyone.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795528" y="5504688"/>
            <a:ext cx="10588752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050" b="0" i="1" dirty="0">
                <a:solidFill>
                  <a:srgbClr val="767171"/>
                </a:solidFill>
                <a:latin typeface="Arial"/>
                <a:cs typeface="Arial"/>
              </a:rPr>
              <a:t>Lenovo deck uses Officers / Managers and above; mapped here to Appendix B tiers. Models and prices to be confirmed by each vendor.</a:t>
            </a:r>
          </a:p>
        </p:txBody>
      </p:sp>
    </p:spTree>
    <p:extLst>
      <p:ext uri="{BB962C8B-B14F-4D97-AF65-F5344CB8AC3E}">
        <p14:creationId xmlns:p14="http://schemas.microsoft.com/office/powerpoint/2010/main" val="3921271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itle 144"/>
          <p:cNvSpPr txBox="1"/>
          <p:nvPr/>
        </p:nvSpPr>
        <p:spPr>
          <a:xfrm>
            <a:off x="411480" y="448056"/>
            <a:ext cx="950976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800" b="1" dirty="0">
                <a:solidFill>
                  <a:srgbClr val="767171"/>
                </a:solidFill>
                <a:latin typeface="Flynas Normal" pitchFamily="2" charset="-78"/>
                <a:cs typeface="Flynas Normal" pitchFamily="2" charset="-78"/>
              </a:rPr>
              <a:t>Processors: Intel or AMD vs Apple silicon</a:t>
            </a:r>
          </a:p>
        </p:txBody>
      </p:sp>
      <p:sp>
        <p:nvSpPr>
          <p:cNvPr id="145" name="Subtitle 145"/>
          <p:cNvSpPr txBox="1"/>
          <p:nvPr/>
        </p:nvSpPr>
        <p:spPr>
          <a:xfrm>
            <a:off x="795528" y="1097280"/>
            <a:ext cx="932688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000" dirty="0">
                <a:solidFill>
                  <a:srgbClr val="00BBB4"/>
                </a:solidFill>
                <a:latin typeface="Flynas" pitchFamily="50" charset="-78"/>
                <a:cs typeface="Flynas" pitchFamily="50" charset="-78"/>
              </a:rPr>
              <a:t>Both are current-generation AI PC chips; the platform is the real choice</a:t>
            </a:r>
          </a:p>
        </p:txBody>
      </p:sp>
      <p:sp>
        <p:nvSpPr>
          <p:cNvPr id="147" name="Shape 147"/>
          <p:cNvSpPr/>
          <p:nvPr/>
        </p:nvSpPr>
        <p:spPr>
          <a:xfrm>
            <a:off x="795528" y="1737360"/>
            <a:ext cx="5157216" cy="868680"/>
          </a:xfrm>
          <a:prstGeom prst="roundRect">
            <a:avLst>
              <a:gd name="adj" fmla="val 10000"/>
            </a:avLst>
          </a:prstGeom>
          <a:solidFill>
            <a:srgbClr val="122B40"/>
          </a:solidFill>
          <a:ln>
            <a:noFill/>
          </a:ln>
        </p:spPr>
        <p:txBody>
          <a:bodyPr wrap="square" rtlCol="0" anchor="ctr" lIns="201168" rIns="201168" tIns="54864" bIns="54864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en-US" sz="1200" b="0" dirty="0">
                <a:solidFill>
                  <a:srgbClr val="00BBB4"/>
                </a:solidFill>
                <a:latin typeface="Arial"/>
                <a:cs typeface="Arial"/>
              </a:rPr>
              <a:t>Lenovo ThinkPad</a:t>
            </a:r>
          </a:p>
          <a:p>
            <a:pPr algn="l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Intel or AMD, same chip every tier</a:t>
            </a:r>
          </a:p>
        </p:txBody>
      </p:sp>
      <p:sp>
        <p:nvSpPr>
          <p:cNvPr id="148" name="Shape 148"/>
          <p:cNvSpPr/>
          <p:nvPr/>
        </p:nvSpPr>
        <p:spPr>
          <a:xfrm>
            <a:off x="795528" y="2606040"/>
            <a:ext cx="5157216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201168" rIns="201168" tIns="146304" bIns="146304">
            <a:noAutofit/>
          </a:bodyPr>
          <a:lstStyle/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200" b="1" dirty="0">
                <a:solidFill>
                  <a:srgbClr val="122B40"/>
                </a:solidFill>
                <a:latin typeface="Arial"/>
                <a:cs typeface="Arial"/>
              </a:rPr>
              <a:t xml:space="preserve">Intel  </a:t>
            </a:r>
            <a:r>
              <a:rPr lang="en-US" sz="1200" b="0" dirty="0">
                <a:solidFill>
                  <a:srgbClr val="5A6E7A"/>
                </a:solidFill>
                <a:latin typeface="Arial"/>
                <a:cs typeface="Arial"/>
              </a:rPr>
              <a:t>Core Ultra 7 356H, 16 cores, up to 4.7 GHz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200" b="1" dirty="0">
                <a:solidFill>
                  <a:srgbClr val="122B40"/>
                </a:solidFill>
                <a:latin typeface="Arial"/>
                <a:cs typeface="Arial"/>
              </a:rPr>
              <a:t xml:space="preserve">AMD  </a:t>
            </a:r>
            <a:r>
              <a:rPr lang="en-US" sz="1200" b="0" dirty="0">
                <a:solidFill>
                  <a:srgbClr val="5A6E7A"/>
                </a:solidFill>
                <a:latin typeface="Arial"/>
                <a:cs typeface="Arial"/>
              </a:rPr>
              <a:t>Ryzen AI 7 PRO 350, 8 cores, up to 5.0 GHz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200" b="1" dirty="0">
                <a:solidFill>
                  <a:srgbClr val="122B40"/>
                </a:solidFill>
                <a:latin typeface="Arial"/>
                <a:cs typeface="Arial"/>
              </a:rPr>
              <a:t xml:space="preserve">AI  </a:t>
            </a:r>
            <a:r>
              <a:rPr lang="en-US" sz="1200" b="0" dirty="0">
                <a:solidFill>
                  <a:srgbClr val="5A6E7A"/>
                </a:solidFill>
                <a:latin typeface="Arial"/>
                <a:cs typeface="Arial"/>
              </a:rPr>
              <a:t>NPU up to 50 TOPS, Copilot+ PC class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200" b="1" dirty="0">
                <a:solidFill>
                  <a:srgbClr val="122B40"/>
                </a:solidFill>
                <a:latin typeface="Arial"/>
                <a:cs typeface="Arial"/>
              </a:rPr>
              <a:t xml:space="preserve">Manage  </a:t>
            </a:r>
            <a:r>
              <a:rPr lang="en-US" sz="1200" b="0" dirty="0">
                <a:solidFill>
                  <a:srgbClr val="5A6E7A"/>
                </a:solidFill>
                <a:latin typeface="Arial"/>
                <a:cs typeface="Arial"/>
              </a:rPr>
              <a:t>Intel vPro or AMD PRO, Windows 11 Pro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200" b="1" dirty="0">
                <a:solidFill>
                  <a:srgbClr val="122B40"/>
                </a:solidFill>
                <a:latin typeface="Arial"/>
                <a:cs typeface="Arial"/>
              </a:rPr>
              <a:t xml:space="preserve">Fit  </a:t>
            </a:r>
            <a:r>
              <a:rPr lang="en-US" sz="1200" b="0" dirty="0">
                <a:solidFill>
                  <a:srgbClr val="5A6E7A"/>
                </a:solidFill>
                <a:latin typeface="Arial"/>
                <a:cs typeface="Arial"/>
              </a:rPr>
              <a:t>Runs every current flynas app as today</a:t>
            </a:r>
          </a:p>
        </p:txBody>
      </p:sp>
      <p:sp>
        <p:nvSpPr>
          <p:cNvPr id="149" name="Shape 149"/>
          <p:cNvSpPr/>
          <p:nvPr/>
        </p:nvSpPr>
        <p:spPr>
          <a:xfrm>
            <a:off x="6227064" y="1737360"/>
            <a:ext cx="5157216" cy="868680"/>
          </a:xfrm>
          <a:prstGeom prst="roundRect">
            <a:avLst>
              <a:gd name="adj" fmla="val 10000"/>
            </a:avLst>
          </a:prstGeom>
          <a:solidFill>
            <a:srgbClr val="00BBB4"/>
          </a:solidFill>
          <a:ln>
            <a:noFill/>
          </a:ln>
        </p:spPr>
        <p:txBody>
          <a:bodyPr wrap="square" rtlCol="0" anchor="ctr" lIns="201168" rIns="201168" tIns="54864" bIns="54864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en-US" sz="1200" b="0" dirty="0">
                <a:solidFill>
                  <a:srgbClr val="E5F8F7"/>
                </a:solidFill>
                <a:latin typeface="Arial"/>
                <a:cs typeface="Arial"/>
              </a:rPr>
              <a:t>Apple Mac</a:t>
            </a:r>
          </a:p>
          <a:p>
            <a:pPr algn="l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M5 for all tiers, M5 Pro for C-Level</a:t>
            </a:r>
          </a:p>
        </p:txBody>
      </p:sp>
      <p:sp>
        <p:nvSpPr>
          <p:cNvPr id="150" name="Shape 150"/>
          <p:cNvSpPr/>
          <p:nvPr/>
        </p:nvSpPr>
        <p:spPr>
          <a:xfrm>
            <a:off x="6227064" y="2606040"/>
            <a:ext cx="5157216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201168" rIns="201168" tIns="146304" bIns="146304">
            <a:noAutofit/>
          </a:bodyPr>
          <a:lstStyle/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200" b="1" dirty="0">
                <a:solidFill>
                  <a:srgbClr val="122B40"/>
                </a:solidFill>
                <a:latin typeface="Arial"/>
                <a:cs typeface="Arial"/>
              </a:rPr>
              <a:t xml:space="preserve">M5  </a:t>
            </a:r>
            <a:r>
              <a:rPr lang="en-US" sz="1200" b="0" dirty="0">
                <a:solidFill>
                  <a:srgbClr val="5A6E7A"/>
                </a:solidFill>
                <a:latin typeface="Arial"/>
                <a:cs typeface="Arial"/>
              </a:rPr>
              <a:t>10-core CPU, MacBook Air and Pro, Officer to VP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200" b="1" dirty="0">
                <a:solidFill>
                  <a:srgbClr val="122B40"/>
                </a:solidFill>
                <a:latin typeface="Arial"/>
                <a:cs typeface="Arial"/>
              </a:rPr>
              <a:t xml:space="preserve">M5 Pro  </a:t>
            </a:r>
            <a:r>
              <a:rPr lang="en-US" sz="1200" b="0" dirty="0">
                <a:solidFill>
                  <a:srgbClr val="5A6E7A"/>
                </a:solidFill>
                <a:latin typeface="Arial"/>
                <a:cs typeface="Arial"/>
              </a:rPr>
              <a:t>15 or 18-core CPU, MacBook Pro for C-Level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200" b="1" dirty="0">
                <a:solidFill>
                  <a:srgbClr val="122B40"/>
                </a:solidFill>
                <a:latin typeface="Arial"/>
                <a:cs typeface="Arial"/>
              </a:rPr>
              <a:t xml:space="preserve">AI  </a:t>
            </a:r>
            <a:r>
              <a:rPr lang="en-US" sz="1200" b="0" dirty="0">
                <a:solidFill>
                  <a:srgbClr val="5A6E7A"/>
                </a:solidFill>
                <a:latin typeface="Arial"/>
                <a:cs typeface="Arial"/>
              </a:rPr>
              <a:t>16-core Neural Engine, GPU Neural Accelerators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200" b="1" dirty="0">
                <a:solidFill>
                  <a:srgbClr val="122B40"/>
                </a:solidFill>
                <a:latin typeface="Arial"/>
                <a:cs typeface="Arial"/>
              </a:rPr>
              <a:t xml:space="preserve">Manage  </a:t>
            </a:r>
            <a:r>
              <a:rPr lang="en-US" sz="1200" b="0" dirty="0">
                <a:solidFill>
                  <a:srgbClr val="5A6E7A"/>
                </a:solidFill>
                <a:latin typeface="Arial"/>
                <a:cs typeface="Arial"/>
              </a:rPr>
              <a:t>Apple Business Manager with Intune or Jamf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200" b="1" dirty="0">
                <a:solidFill>
                  <a:srgbClr val="122B40"/>
                </a:solidFill>
                <a:latin typeface="Arial"/>
                <a:cs typeface="Arial"/>
              </a:rPr>
              <a:t xml:space="preserve">Fit  </a:t>
            </a:r>
            <a:r>
              <a:rPr lang="en-US" sz="1200" b="0" dirty="0">
                <a:solidFill>
                  <a:srgbClr val="5A6E7A"/>
                </a:solidFill>
                <a:latin typeface="Arial"/>
                <a:cs typeface="Arial"/>
              </a:rPr>
              <a:t>Windows-only apps need B.1 or Windows 365</a:t>
            </a:r>
          </a:p>
        </p:txBody>
      </p:sp>
      <p:sp>
        <p:nvSpPr>
          <p:cNvPr id="151" name="Shape 151"/>
          <p:cNvSpPr/>
          <p:nvPr/>
        </p:nvSpPr>
        <p:spPr>
          <a:xfrm>
            <a:off x="795528" y="4937760"/>
            <a:ext cx="10588752" cy="566928"/>
          </a:xfrm>
          <a:prstGeom prst="roundRect">
            <a:avLst>
              <a:gd name="adj" fmla="val 16000"/>
            </a:avLst>
          </a:prstGeom>
          <a:solidFill>
            <a:srgbClr val="E5F8F7"/>
          </a:solidFill>
          <a:ln>
            <a:noFill/>
          </a:ln>
        </p:spPr>
        <p:txBody>
          <a:bodyPr wrap="square" rtlCol="0" anchor="ctr" lIns="182880" rIns="182880" tIns="45720" bIns="4572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B40"/>
                </a:solidFill>
                <a:latin typeface="Arial"/>
                <a:cs typeface="Arial"/>
              </a:rPr>
              <a:t>Ask both vendors for pilot units so ITEUS can test our core apps on each platform before deciding.</a:t>
            </a:r>
          </a:p>
        </p:txBody>
      </p:sp>
    </p:spTree>
    <p:extLst>
      <p:ext uri="{BB962C8B-B14F-4D97-AF65-F5344CB8AC3E}">
        <p14:creationId xmlns:p14="http://schemas.microsoft.com/office/powerpoint/2010/main" val="3921271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itle 139"/>
          <p:cNvSpPr txBox="1"/>
          <p:nvPr/>
        </p:nvSpPr>
        <p:spPr>
          <a:xfrm>
            <a:off x="411480" y="448056"/>
            <a:ext cx="950976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800" b="1" dirty="0">
                <a:solidFill>
                  <a:srgbClr val="767171"/>
                </a:solidFill>
                <a:latin typeface="Flynas Normal" pitchFamily="2" charset="-78"/>
                <a:cs typeface="Flynas Normal" pitchFamily="2" charset="-78"/>
              </a:rPr>
              <a:t>Desk kit, support and lifecycle</a:t>
            </a:r>
          </a:p>
        </p:txBody>
      </p:sp>
      <p:sp>
        <p:nvSpPr>
          <p:cNvPr id="140" name="Subtitle 140"/>
          <p:cNvSpPr txBox="1"/>
          <p:nvPr/>
        </p:nvSpPr>
        <p:spPr>
          <a:xfrm>
            <a:off x="795528" y="1097280"/>
            <a:ext cx="932688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000" dirty="0">
                <a:solidFill>
                  <a:srgbClr val="00BBB4"/>
                </a:solidFill>
                <a:latin typeface="Flynas" pitchFamily="50" charset="-78"/>
                <a:cs typeface="Flynas" pitchFamily="50" charset="-78"/>
              </a:rPr>
              <a:t>Service terms side by side</a:t>
            </a:r>
          </a:p>
        </p:txBody>
      </p:sp>
      <p:graphicFrame>
        <p:nvGraphicFramePr>
          <p:cNvPr id="138" name="Device table"/>
          <p:cNvGraphicFramePr>
            <a:graphicFrameLocks noGrp="1"/>
          </p:cNvGraphicFramePr>
          <p:nvPr/>
        </p:nvGraphicFramePr>
        <p:xfrm>
          <a:off x="795528" y="1719072"/>
          <a:ext cx="10588752" cy="288036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4261104"/>
                <a:gridCol w="4270248"/>
              </a:tblGrid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Area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Lenovo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Apple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122B4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Monitors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Two 24" or 27" per desk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One 27" Lenovo ThinkVision USB-C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Dock / adapter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Thunderbolt dock at every desk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Belkin 11-in-1; Lenovo dock for Director up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Peripherals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Headset, keyboard and mouse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Magic Keyboard, Mouse or Trackpad, headset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Deployment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Factory image and Autopilot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Zero-touch via Apple Business Manager, Intune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Asset tracking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Device Intelligence, Service Connect, Ivanti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ABM with Intune or Jamf, feeding Ivanti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Support abroad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International Warranty; onsite or depot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AppleCare for Enterprise, Apple service network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IT training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Certification for in-house part swaps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Apple certifications, Independent Repair Provider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22B40"/>
                          </a:solidFill>
                          <a:latin typeface="Arial"/>
                          <a:cs typeface="Arial"/>
                        </a:rPr>
                        <a:t>Lifecycle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36 months, optional 4th year, buyout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5A6E7A"/>
                          </a:solidFill>
                          <a:latin typeface="Arial"/>
                          <a:cs typeface="Arial"/>
                        </a:rPr>
                        <a:t>Same, with Mac resale value lowering the rate</a:t>
                      </a:r>
                    </a:p>
                  </a:txBody>
                  <a:tcPr marL="91440" marR="73152" marT="45720" marB="4572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8E6E5"/>
                      </a:solidFill>
                    </a:lnT>
                    <a:lnB w="6350">
                      <a:solidFill>
                        <a:srgbClr val="D8E6E5"/>
                      </a:solidFill>
                    </a:lnB>
                    <a:solidFill>
                      <a:srgbClr val="F4FBFB"/>
                    </a:solidFill>
                  </a:tcPr>
                </a:tc>
              </a:tr>
            </a:tbl>
          </a:graphicData>
        </a:graphic>
      </p:graphicFrame>
      <p:sp>
        <p:nvSpPr>
          <p:cNvPr id="142" name="Shape 142"/>
          <p:cNvSpPr/>
          <p:nvPr/>
        </p:nvSpPr>
        <p:spPr>
          <a:xfrm>
            <a:off x="795528" y="4873752"/>
            <a:ext cx="10588752" cy="566928"/>
          </a:xfrm>
          <a:prstGeom prst="roundRect">
            <a:avLst>
              <a:gd name="adj" fmla="val 16000"/>
            </a:avLst>
          </a:prstGeom>
          <a:solidFill>
            <a:srgbClr val="E5F8F7"/>
          </a:solidFill>
          <a:ln>
            <a:noFill/>
          </a:ln>
        </p:spPr>
        <p:txBody>
          <a:bodyPr wrap="square" rtlCol="0" anchor="ctr" lIns="182880" rIns="182880" tIns="45720" bIns="4572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B40"/>
                </a:solidFill>
                <a:latin typeface="Arial"/>
                <a:cs typeface="Arial"/>
              </a:rPr>
              <a:t>Same model from both: one per-seat fee, 36-month refresh, NIST 800-88 wipe certificates as NCA evidence.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795528" y="5504688"/>
            <a:ext cx="10588752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0" rIns="0" tIns="0" bIns="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050" b="0" i="1" dirty="0">
                <a:solidFill>
                  <a:srgbClr val="767171"/>
                </a:solidFill>
                <a:latin typeface="Arial"/>
                <a:cs typeface="Arial"/>
              </a:rPr>
              <a:t>Desk kit as written in each deck; the Lenovo two-monitor desk is above the Appendix B standard.</a:t>
            </a:r>
          </a:p>
        </p:txBody>
      </p:sp>
    </p:spTree>
    <p:extLst>
      <p:ext uri="{BB962C8B-B14F-4D97-AF65-F5344CB8AC3E}">
        <p14:creationId xmlns:p14="http://schemas.microsoft.com/office/powerpoint/2010/main" val="3921271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itle 208"/>
          <p:cNvSpPr txBox="1"/>
          <p:nvPr/>
        </p:nvSpPr>
        <p:spPr>
          <a:xfrm>
            <a:off x="411480" y="448056"/>
            <a:ext cx="950976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800" b="1" dirty="0">
                <a:solidFill>
                  <a:srgbClr val="767171"/>
                </a:solidFill>
                <a:latin typeface="Flynas Normal" pitchFamily="2" charset="-78"/>
                <a:cs typeface="Flynas Normal" pitchFamily="2" charset="-78"/>
              </a:rPr>
              <a:t>Strengths and watch-outs</a:t>
            </a:r>
          </a:p>
        </p:txBody>
      </p:sp>
      <p:sp>
        <p:nvSpPr>
          <p:cNvPr id="209" name="Subtitle 209"/>
          <p:cNvSpPr txBox="1"/>
          <p:nvPr/>
        </p:nvSpPr>
        <p:spPr>
          <a:xfrm>
            <a:off x="795528" y="1097280"/>
            <a:ext cx="932688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000" dirty="0">
                <a:solidFill>
                  <a:srgbClr val="00BBB4"/>
                </a:solidFill>
                <a:latin typeface="Flynas" pitchFamily="50" charset="-78"/>
                <a:cs typeface="Flynas" pitchFamily="50" charset="-78"/>
              </a:rPr>
              <a:t>Where each option is stronger, and what to plan for</a:t>
            </a:r>
          </a:p>
        </p:txBody>
      </p:sp>
      <p:sp>
        <p:nvSpPr>
          <p:cNvPr id="211" name="Shape 211"/>
          <p:cNvSpPr/>
          <p:nvPr/>
        </p:nvSpPr>
        <p:spPr>
          <a:xfrm>
            <a:off x="795528" y="1828800"/>
            <a:ext cx="5157216" cy="420624"/>
          </a:xfrm>
          <a:prstGeom prst="roundRect">
            <a:avLst>
              <a:gd name="adj" fmla="val 10000"/>
            </a:avLst>
          </a:prstGeom>
          <a:solidFill>
            <a:srgbClr val="122B40"/>
          </a:solidFill>
          <a:ln>
            <a:noFill/>
          </a:ln>
        </p:spPr>
        <p:txBody>
          <a:bodyPr wrap="square" rtlCol="0" anchor="ctr" lIns="128016" rIns="128016" tIns="36576" bIns="36576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Lenovo: strengths</a:t>
            </a:r>
          </a:p>
        </p:txBody>
      </p:sp>
      <p:sp>
        <p:nvSpPr>
          <p:cNvPr id="212" name="Shape 212"/>
          <p:cNvSpPr/>
          <p:nvPr/>
        </p:nvSpPr>
        <p:spPr>
          <a:xfrm>
            <a:off x="795528" y="2249424"/>
            <a:ext cx="5157216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128016" rIns="128016" tIns="91440" bIns="91440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300" b="0" dirty="0">
                <a:solidFill>
                  <a:srgbClr val="5A6E7A"/>
                </a:solidFill>
                <a:latin typeface="Arial"/>
                <a:cs typeface="Arial"/>
              </a:rPr>
              <a:t>No change for users or ITEUS. Touchscreen 2-in-1s, Keep Your Drive, and Lenovo buys back its own fleet directly.</a:t>
            </a:r>
          </a:p>
        </p:txBody>
      </p:sp>
      <p:sp>
        <p:nvSpPr>
          <p:cNvPr id="213" name="Shape 213"/>
          <p:cNvSpPr/>
          <p:nvPr/>
        </p:nvSpPr>
        <p:spPr>
          <a:xfrm>
            <a:off x="6227064" y="1828800"/>
            <a:ext cx="5157216" cy="420624"/>
          </a:xfrm>
          <a:prstGeom prst="roundRect">
            <a:avLst>
              <a:gd name="adj" fmla="val 10000"/>
            </a:avLst>
          </a:prstGeom>
          <a:solidFill>
            <a:srgbClr val="00BBB4"/>
          </a:solidFill>
          <a:ln>
            <a:noFill/>
          </a:ln>
        </p:spPr>
        <p:txBody>
          <a:bodyPr wrap="square" rtlCol="0" anchor="ctr" lIns="128016" rIns="128016" tIns="36576" bIns="36576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Apple: strengths</a:t>
            </a:r>
          </a:p>
        </p:txBody>
      </p:sp>
      <p:sp>
        <p:nvSpPr>
          <p:cNvPr id="214" name="Shape 214"/>
          <p:cNvSpPr/>
          <p:nvPr/>
        </p:nvSpPr>
        <p:spPr>
          <a:xfrm>
            <a:off x="6227064" y="2249424"/>
            <a:ext cx="5157216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128016" rIns="128016" tIns="91440" bIns="91440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300" b="0" dirty="0">
                <a:solidFill>
                  <a:srgbClr val="5A6E7A"/>
                </a:solidFill>
                <a:latin typeface="Arial"/>
                <a:cs typeface="Arial"/>
              </a:rPr>
              <a:t>24GB on every Mac. iPads for operations on the same contract. Mac resale value can lower the rate.</a:t>
            </a:r>
          </a:p>
        </p:txBody>
      </p:sp>
      <p:sp>
        <p:nvSpPr>
          <p:cNvPr id="215" name="Shape 215"/>
          <p:cNvSpPr/>
          <p:nvPr/>
        </p:nvSpPr>
        <p:spPr>
          <a:xfrm>
            <a:off x="795528" y="3703320"/>
            <a:ext cx="5157216" cy="420624"/>
          </a:xfrm>
          <a:prstGeom prst="roundRect">
            <a:avLst>
              <a:gd name="adj" fmla="val 10000"/>
            </a:avLst>
          </a:prstGeom>
          <a:solidFill>
            <a:srgbClr val="DD3068"/>
          </a:solidFill>
          <a:ln>
            <a:noFill/>
          </a:ln>
        </p:spPr>
        <p:txBody>
          <a:bodyPr wrap="square" rtlCol="0" anchor="ctr" lIns="128016" rIns="128016" tIns="36576" bIns="36576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Lenovo: watch-outs</a:t>
            </a:r>
          </a:p>
        </p:txBody>
      </p:sp>
      <p:sp>
        <p:nvSpPr>
          <p:cNvPr id="216" name="Shape 216"/>
          <p:cNvSpPr/>
          <p:nvPr/>
        </p:nvSpPr>
        <p:spPr>
          <a:xfrm>
            <a:off x="795528" y="4123944"/>
            <a:ext cx="5157216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128016" rIns="128016" tIns="91440" bIns="91440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300" b="0" dirty="0">
                <a:solidFill>
                  <a:srgbClr val="5A6E7A"/>
                </a:solidFill>
                <a:latin typeface="Arial"/>
                <a:cs typeface="Arial"/>
              </a:rPr>
              <a:t>Quoted above policy (32GB for all, two monitors), which raises the price. No tablet offer. Some chassis Intel only.</a:t>
            </a:r>
          </a:p>
        </p:txBody>
      </p:sp>
      <p:sp>
        <p:nvSpPr>
          <p:cNvPr id="217" name="Shape 217"/>
          <p:cNvSpPr/>
          <p:nvPr/>
        </p:nvSpPr>
        <p:spPr>
          <a:xfrm>
            <a:off x="6227064" y="3703320"/>
            <a:ext cx="5157216" cy="420624"/>
          </a:xfrm>
          <a:prstGeom prst="roundRect">
            <a:avLst>
              <a:gd name="adj" fmla="val 10000"/>
            </a:avLst>
          </a:prstGeom>
          <a:solidFill>
            <a:srgbClr val="DD3068"/>
          </a:solidFill>
          <a:ln>
            <a:noFill/>
          </a:ln>
        </p:spPr>
        <p:txBody>
          <a:bodyPr wrap="square" rtlCol="0" anchor="ctr" lIns="128016" rIns="128016" tIns="36576" bIns="36576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Apple: watch-outs</a:t>
            </a:r>
          </a:p>
        </p:txBody>
      </p:sp>
      <p:sp>
        <p:nvSpPr>
          <p:cNvPr id="218" name="Shape 218"/>
          <p:cNvSpPr/>
          <p:nvPr/>
        </p:nvSpPr>
        <p:spPr>
          <a:xfrm>
            <a:off x="6227064" y="4123944"/>
            <a:ext cx="5157216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128016" rIns="128016" tIns="91440" bIns="91440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300" b="0" dirty="0">
                <a:solidFill>
                  <a:srgbClr val="5A6E7A"/>
                </a:solidFill>
                <a:latin typeface="Arial"/>
                <a:cs typeface="Arial"/>
              </a:rPr>
              <a:t>Windows-only apps need B.1 or Windows 365. No touch Mac, no drive retention. Contract via a reseller.</a:t>
            </a:r>
          </a:p>
        </p:txBody>
      </p:sp>
    </p:spTree>
    <p:extLst>
      <p:ext uri="{BB962C8B-B14F-4D97-AF65-F5344CB8AC3E}">
        <p14:creationId xmlns:p14="http://schemas.microsoft.com/office/powerpoint/2010/main" val="3921271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itle 219"/>
          <p:cNvSpPr txBox="1"/>
          <p:nvPr/>
        </p:nvSpPr>
        <p:spPr>
          <a:xfrm>
            <a:off x="411480" y="448056"/>
            <a:ext cx="950976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800" b="1" dirty="0">
                <a:solidFill>
                  <a:srgbClr val="767171"/>
                </a:solidFill>
                <a:latin typeface="Flynas Normal" pitchFamily="2" charset="-78"/>
                <a:cs typeface="Flynas Normal" pitchFamily="2" charset="-78"/>
              </a:rPr>
              <a:t>Decision points and next steps</a:t>
            </a:r>
          </a:p>
        </p:txBody>
      </p:sp>
      <p:sp>
        <p:nvSpPr>
          <p:cNvPr id="220" name="Subtitle 220"/>
          <p:cNvSpPr txBox="1"/>
          <p:nvPr/>
        </p:nvSpPr>
        <p:spPr>
          <a:xfrm>
            <a:off x="795528" y="1097280"/>
            <a:ext cx="932688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0" rIns="91440" tIns="45720" bIns="45720">
            <a:noAutofit/>
          </a:bodyPr>
          <a:lstStyle/>
          <a:p>
            <a:pPr algn="l"/>
            <a:r>
              <a:rPr lang="en-US" sz="2000" dirty="0">
                <a:solidFill>
                  <a:srgbClr val="00BBB4"/>
                </a:solidFill>
                <a:latin typeface="Flynas" pitchFamily="50" charset="-78"/>
                <a:cs typeface="Flynas" pitchFamily="50" charset="-78"/>
              </a:rPr>
              <a:t>What flynas needs to settle before choosing</a:t>
            </a:r>
          </a:p>
        </p:txBody>
      </p:sp>
      <p:sp>
        <p:nvSpPr>
          <p:cNvPr id="222" name="Shape 222"/>
          <p:cNvSpPr/>
          <p:nvPr/>
        </p:nvSpPr>
        <p:spPr>
          <a:xfrm>
            <a:off x="795528" y="1737360"/>
            <a:ext cx="5157216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228600" rIns="228600" tIns="182880" bIns="182880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DD3068"/>
                </a:solidFill>
                <a:latin typeface="Arial"/>
                <a:cs typeface="Arial"/>
              </a:rPr>
              <a:t>To decide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350" b="0" dirty="0">
                <a:solidFill>
                  <a:srgbClr val="122B40"/>
                </a:solidFill>
                <a:latin typeface="Arial"/>
                <a:cs typeface="Arial"/>
              </a:rPr>
              <a:t>Platform: Windows, Mac, or mixed by role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350" b="0" dirty="0">
                <a:solidFill>
                  <a:srgbClr val="122B40"/>
                </a:solidFill>
                <a:latin typeface="Arial"/>
                <a:cs typeface="Arial"/>
              </a:rPr>
              <a:t>Which Windows-only apps block a Mac move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350" b="0" dirty="0">
                <a:solidFill>
                  <a:srgbClr val="122B40"/>
                </a:solidFill>
                <a:latin typeface="Arial"/>
                <a:cs typeface="Arial"/>
              </a:rPr>
              <a:t>Touch users: 2-in-1 laptop or iPad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350" b="0" dirty="0">
                <a:solidFill>
                  <a:srgbClr val="122B40"/>
                </a:solidFill>
                <a:latin typeface="Arial"/>
                <a:cs typeface="Arial"/>
              </a:rPr>
              <a:t>Is an operations iPad program in scope?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350" b="0" dirty="0">
                <a:solidFill>
                  <a:srgbClr val="122B40"/>
                </a:solidFill>
                <a:latin typeface="Arial"/>
                <a:cs typeface="Arial"/>
              </a:rPr>
              <a:t>Is drive retention required by policy?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350" b="0" dirty="0">
                <a:solidFill>
                  <a:srgbClr val="122B40"/>
                </a:solidFill>
                <a:latin typeface="Arial"/>
                <a:cs typeface="Arial"/>
              </a:rPr>
              <a:t>Keep or drop Mac Studio for specialists</a:t>
            </a:r>
          </a:p>
        </p:txBody>
      </p:sp>
      <p:sp>
        <p:nvSpPr>
          <p:cNvPr id="223" name="Shape 223"/>
          <p:cNvSpPr/>
          <p:nvPr/>
        </p:nvSpPr>
        <p:spPr>
          <a:xfrm>
            <a:off x="6227064" y="1737360"/>
            <a:ext cx="5157216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6E5"/>
            </a:solidFill>
          </a:ln>
        </p:spPr>
        <p:txBody>
          <a:bodyPr wrap="square" rtlCol="0" anchor="t" lIns="228600" rIns="228600" tIns="182880" bIns="182880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0BBB4"/>
                </a:solidFill>
                <a:latin typeface="Arial"/>
                <a:cs typeface="Arial"/>
              </a:rPr>
              <a:t>Next steps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350" b="0" dirty="0">
                <a:solidFill>
                  <a:srgbClr val="122B40"/>
                </a:solidFill>
                <a:latin typeface="Arial"/>
                <a:cs typeface="Arial"/>
              </a:rPr>
              <a:t>Both vendors quote the same spec per seat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350" b="0" dirty="0">
                <a:solidFill>
                  <a:srgbClr val="122B40"/>
                </a:solidFill>
                <a:latin typeface="Arial"/>
                <a:cs typeface="Arial"/>
              </a:rPr>
              <a:t>Pilot units of each for ITEUS app testing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350" b="0" dirty="0">
                <a:solidFill>
                  <a:srgbClr val="122B40"/>
                </a:solidFill>
                <a:latin typeface="Arial"/>
                <a:cs typeface="Arial"/>
              </a:rPr>
              <a:t>Compare cost per seat at 36 and 48 months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350" b="0" dirty="0">
                <a:solidFill>
                  <a:srgbClr val="122B40"/>
                </a:solidFill>
                <a:latin typeface="Arial"/>
                <a:cs typeface="Arial"/>
              </a:rPr>
              <a:t>Confirm onsite cover in KSA and stations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350" b="0" dirty="0">
                <a:solidFill>
                  <a:srgbClr val="122B40"/>
                </a:solidFill>
                <a:latin typeface="Arial"/>
                <a:cs typeface="Arial"/>
              </a:rPr>
              <a:t>Recommendation to Finance and Procurement</a:t>
            </a:r>
          </a:p>
          <a:p>
            <a:pPr marL="228600" indent="-228600" algn="l">
              <a:spcAft>
                <a:spcPts val="700"/>
              </a:spcAft>
              <a:buClr>
                <a:srgbClr val="00BBB4"/>
              </a:buClr>
              <a:buFont typeface="Arial"/>
              <a:buChar char="•"/>
            </a:pPr>
            <a:r>
              <a:rPr lang="en-US" sz="1350" b="0" dirty="0">
                <a:solidFill>
                  <a:srgbClr val="122B40"/>
                </a:solidFill>
                <a:latin typeface="Arial"/>
                <a:cs typeface="Arial"/>
              </a:rPr>
              <a:t>Price locked for the full term, added seats too</a:t>
            </a:r>
          </a:p>
        </p:txBody>
      </p:sp>
      <p:sp>
        <p:nvSpPr>
          <p:cNvPr id="224" name="Shape 224"/>
          <p:cNvSpPr/>
          <p:nvPr/>
        </p:nvSpPr>
        <p:spPr>
          <a:xfrm>
            <a:off x="795528" y="4919472"/>
            <a:ext cx="10588752" cy="603504"/>
          </a:xfrm>
          <a:prstGeom prst="roundRect">
            <a:avLst>
              <a:gd name="adj" fmla="val 16000"/>
            </a:avLst>
          </a:prstGeom>
          <a:solidFill>
            <a:srgbClr val="E5F8F7"/>
          </a:solidFill>
          <a:ln>
            <a:noFill/>
          </a:ln>
        </p:spPr>
        <p:txBody>
          <a:bodyPr wrap="square" rtlCol="0" anchor="ctr" lIns="182880" rIns="182880" tIns="45720" bIns="4572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B40"/>
                </a:solidFill>
                <a:latin typeface="Arial"/>
                <a:cs typeface="Arial"/>
              </a:rPr>
              <a:t>Goal: like-for-like, per-seat prices from both vendors, so the choice is about platform and service.</a:t>
            </a:r>
          </a:p>
        </p:txBody>
      </p:sp>
    </p:spTree>
    <p:extLst>
      <p:ext uri="{BB962C8B-B14F-4D97-AF65-F5344CB8AC3E}">
        <p14:creationId xmlns:p14="http://schemas.microsoft.com/office/powerpoint/2010/main" val="3921271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A370C6-7646-E146-B688-1E3CE51B71A4}"/>
              </a:ext>
            </a:extLst>
          </p:cNvPr>
          <p:cNvSpPr txBox="1"/>
          <p:nvPr/>
        </p:nvSpPr>
        <p:spPr>
          <a:xfrm>
            <a:off x="6435766" y="2967335"/>
            <a:ext cx="4014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Gotham Rounded Bold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21124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lynas Presentation Template-2" id="{775F9B4F-E3C6-6744-A073-627919DDBF89}" vid="{10FAC79C-4966-084D-A2F5-B9CD4A099DC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1cec92f6-5859-4f6a-b76e-9f14529924a2}" enabled="0" method="" siteId="{1cec92f6-5859-4f6a-b76e-9f14529924a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24318</TotalTime>
  <Words>5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Calibri</vt:lpstr>
      <vt:lpstr>Calibri Light</vt:lpstr>
      <vt:lpstr>Flynas</vt:lpstr>
      <vt:lpstr>Flynas Bold</vt:lpstr>
      <vt:lpstr>Flynas Normal</vt:lpstr>
      <vt:lpstr>Gotham Rounded Bold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Omar Othman</cp:lastModifiedBy>
  <cp:revision>249</cp:revision>
  <cp:lastPrinted>2022-10-02T09:18:39Z</cp:lastPrinted>
  <dcterms:created xsi:type="dcterms:W3CDTF">2020-02-16T07:51:25Z</dcterms:created>
  <dcterms:modified xsi:type="dcterms:W3CDTF">2026-04-22T06:47:53Z</dcterms:modified>
</cp:coreProperties>
</file>